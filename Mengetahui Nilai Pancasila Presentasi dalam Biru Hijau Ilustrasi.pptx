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Fredoka" charset="1" panose="02000000000000000000"/>
      <p:regular r:id="rId11"/>
    </p:embeddedFont>
    <p:embeddedFont>
      <p:font typeface="Neal" charset="1" panose="00000000000000000000"/>
      <p:regular r:id="rId12"/>
    </p:embeddedFont>
    <p:embeddedFont>
      <p:font typeface="Trace" charset="1" panose="00000000000000000000"/>
      <p:regular r:id="rId13"/>
    </p:embeddedFont>
    <p:embeddedFont>
      <p:font typeface="Poppins" charset="1" panose="00000500000000000000"/>
      <p:regular r:id="rId14"/>
    </p:embeddedFont>
    <p:embeddedFont>
      <p:font typeface="Poppins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2848913" y="1437232"/>
            <a:ext cx="12941994" cy="8353469"/>
          </a:xfrm>
          <a:custGeom>
            <a:avLst/>
            <a:gdLst/>
            <a:ahLst/>
            <a:cxnLst/>
            <a:rect r="r" b="b" t="t" l="l"/>
            <a:pathLst>
              <a:path h="8353469" w="12941994">
                <a:moveTo>
                  <a:pt x="0" y="0"/>
                </a:moveTo>
                <a:lnTo>
                  <a:pt x="12941994" y="0"/>
                </a:lnTo>
                <a:lnTo>
                  <a:pt x="12941994" y="8353468"/>
                </a:lnTo>
                <a:lnTo>
                  <a:pt x="0" y="83534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70929" y="2062566"/>
            <a:ext cx="7897962" cy="1486538"/>
          </a:xfrm>
          <a:prstGeom prst="rect">
            <a:avLst/>
          </a:prstGeom>
        </p:spPr>
        <p:txBody>
          <a:bodyPr anchor="t" rtlCol="false" tIns="0" lIns="0" bIns="0" rIns="0">
            <a:spAutoFit/>
          </a:bodyPr>
          <a:lstStyle/>
          <a:p>
            <a:pPr algn="ctr">
              <a:lnSpc>
                <a:spcPts val="5830"/>
              </a:lnSpc>
            </a:pPr>
            <a:r>
              <a:rPr lang="en-US" sz="5300">
                <a:solidFill>
                  <a:srgbClr val="FFFFFF"/>
                </a:solidFill>
                <a:latin typeface="Fredoka"/>
                <a:ea typeface="Fredoka"/>
                <a:cs typeface="Fredoka"/>
                <a:sym typeface="Fredoka"/>
              </a:rPr>
              <a:t>BER-PANCASILA </a:t>
            </a:r>
          </a:p>
          <a:p>
            <a:pPr algn="ctr">
              <a:lnSpc>
                <a:spcPts val="5830"/>
              </a:lnSpc>
            </a:pPr>
          </a:p>
        </p:txBody>
      </p:sp>
      <p:sp>
        <p:nvSpPr>
          <p:cNvPr name="Freeform 5" id="5"/>
          <p:cNvSpPr/>
          <p:nvPr/>
        </p:nvSpPr>
        <p:spPr>
          <a:xfrm flipH="false" flipV="false" rot="0">
            <a:off x="-1193245" y="-1406796"/>
            <a:ext cx="8084317" cy="4870992"/>
          </a:xfrm>
          <a:custGeom>
            <a:avLst/>
            <a:gdLst/>
            <a:ahLst/>
            <a:cxnLst/>
            <a:rect r="r" b="b" t="t" l="l"/>
            <a:pathLst>
              <a:path h="4870992" w="8084317">
                <a:moveTo>
                  <a:pt x="0" y="0"/>
                </a:moveTo>
                <a:lnTo>
                  <a:pt x="8084317" y="0"/>
                </a:lnTo>
                <a:lnTo>
                  <a:pt x="8084317" y="4870992"/>
                </a:lnTo>
                <a:lnTo>
                  <a:pt x="0" y="48709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92418">
            <a:off x="12115815" y="6404164"/>
            <a:ext cx="9473939" cy="5708273"/>
          </a:xfrm>
          <a:custGeom>
            <a:avLst/>
            <a:gdLst/>
            <a:ahLst/>
            <a:cxnLst/>
            <a:rect r="r" b="b" t="t" l="l"/>
            <a:pathLst>
              <a:path h="5708273" w="9473939">
                <a:moveTo>
                  <a:pt x="0" y="0"/>
                </a:moveTo>
                <a:lnTo>
                  <a:pt x="9473940" y="0"/>
                </a:lnTo>
                <a:lnTo>
                  <a:pt x="9473940" y="5708272"/>
                </a:lnTo>
                <a:lnTo>
                  <a:pt x="0" y="57082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67302">
            <a:off x="14534695" y="-42459"/>
            <a:ext cx="3291840" cy="4114800"/>
          </a:xfrm>
          <a:custGeom>
            <a:avLst/>
            <a:gdLst/>
            <a:ahLst/>
            <a:cxnLst/>
            <a:rect r="r" b="b" t="t" l="l"/>
            <a:pathLst>
              <a:path h="4114800" w="3291840">
                <a:moveTo>
                  <a:pt x="0" y="0"/>
                </a:moveTo>
                <a:lnTo>
                  <a:pt x="3291840" y="0"/>
                </a:lnTo>
                <a:lnTo>
                  <a:pt x="32918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867302">
            <a:off x="14770403" y="447325"/>
            <a:ext cx="5320694" cy="3135232"/>
          </a:xfrm>
          <a:custGeom>
            <a:avLst/>
            <a:gdLst/>
            <a:ahLst/>
            <a:cxnLst/>
            <a:rect r="r" b="b" t="t" l="l"/>
            <a:pathLst>
              <a:path h="3135232" w="5320694">
                <a:moveTo>
                  <a:pt x="0" y="0"/>
                </a:moveTo>
                <a:lnTo>
                  <a:pt x="5320694" y="0"/>
                </a:lnTo>
                <a:lnTo>
                  <a:pt x="5320694" y="3135232"/>
                </a:lnTo>
                <a:lnTo>
                  <a:pt x="0" y="3135232"/>
                </a:lnTo>
                <a:lnTo>
                  <a:pt x="0" y="0"/>
                </a:lnTo>
                <a:close/>
              </a:path>
            </a:pathLst>
          </a:custGeom>
          <a:blipFill>
            <a:blip r:embed="rId9">
              <a:extLst>
                <a:ext uri="{96DAC541-7B7A-43D3-8B79-37D633B846F1}">
                  <asvg:svgBlip xmlns:asvg="http://schemas.microsoft.com/office/drawing/2016/SVG/main" r:embed="rId10"/>
                </a:ext>
              </a:extLst>
            </a:blip>
            <a:stretch>
              <a:fillRect l="0" t="0" r="0" b="-11005"/>
            </a:stretch>
          </a:blipFill>
        </p:spPr>
      </p:sp>
      <p:sp>
        <p:nvSpPr>
          <p:cNvPr name="Freeform 9" id="9"/>
          <p:cNvSpPr/>
          <p:nvPr/>
        </p:nvSpPr>
        <p:spPr>
          <a:xfrm flipH="false" flipV="false" rot="1030207">
            <a:off x="-144495" y="5674813"/>
            <a:ext cx="3336598" cy="4348783"/>
          </a:xfrm>
          <a:custGeom>
            <a:avLst/>
            <a:gdLst/>
            <a:ahLst/>
            <a:cxnLst/>
            <a:rect r="r" b="b" t="t" l="l"/>
            <a:pathLst>
              <a:path h="4348783" w="3336598">
                <a:moveTo>
                  <a:pt x="0" y="0"/>
                </a:moveTo>
                <a:lnTo>
                  <a:pt x="3336598" y="0"/>
                </a:lnTo>
                <a:lnTo>
                  <a:pt x="3336598" y="4348783"/>
                </a:lnTo>
                <a:lnTo>
                  <a:pt x="0" y="43487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1030207">
            <a:off x="-666790" y="6297891"/>
            <a:ext cx="4381189" cy="3368222"/>
          </a:xfrm>
          <a:custGeom>
            <a:avLst/>
            <a:gdLst/>
            <a:ahLst/>
            <a:cxnLst/>
            <a:rect r="r" b="b" t="t" l="l"/>
            <a:pathLst>
              <a:path h="3368222" w="4381189">
                <a:moveTo>
                  <a:pt x="0" y="0"/>
                </a:moveTo>
                <a:lnTo>
                  <a:pt x="4381189" y="0"/>
                </a:lnTo>
                <a:lnTo>
                  <a:pt x="4381189" y="3368222"/>
                </a:lnTo>
                <a:lnTo>
                  <a:pt x="0" y="33682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1" id="11"/>
          <p:cNvSpPr txBox="true"/>
          <p:nvPr/>
        </p:nvSpPr>
        <p:spPr>
          <a:xfrm rot="0">
            <a:off x="5195019" y="3807118"/>
            <a:ext cx="7897962" cy="836932"/>
          </a:xfrm>
          <a:prstGeom prst="rect">
            <a:avLst/>
          </a:prstGeom>
        </p:spPr>
        <p:txBody>
          <a:bodyPr anchor="t" rtlCol="false" tIns="0" lIns="0" bIns="0" rIns="0">
            <a:spAutoFit/>
          </a:bodyPr>
          <a:lstStyle/>
          <a:p>
            <a:pPr algn="ctr">
              <a:lnSpc>
                <a:spcPts val="6490"/>
              </a:lnSpc>
            </a:pPr>
            <a:r>
              <a:rPr lang="en-US" sz="5900">
                <a:solidFill>
                  <a:srgbClr val="FFFFFF"/>
                </a:solidFill>
                <a:latin typeface="Fredoka"/>
                <a:ea typeface="Fredoka"/>
                <a:cs typeface="Fredoka"/>
                <a:sym typeface="Fredoka"/>
              </a:rPr>
              <a:t>DI INDONESIA</a:t>
            </a:r>
          </a:p>
        </p:txBody>
      </p:sp>
      <p:sp>
        <p:nvSpPr>
          <p:cNvPr name="TextBox 12" id="12"/>
          <p:cNvSpPr txBox="true"/>
          <p:nvPr/>
        </p:nvSpPr>
        <p:spPr>
          <a:xfrm rot="0">
            <a:off x="4113936" y="2952483"/>
            <a:ext cx="10813955" cy="742318"/>
          </a:xfrm>
          <a:prstGeom prst="rect">
            <a:avLst/>
          </a:prstGeom>
        </p:spPr>
        <p:txBody>
          <a:bodyPr anchor="t" rtlCol="false" tIns="0" lIns="0" bIns="0" rIns="0">
            <a:spAutoFit/>
          </a:bodyPr>
          <a:lstStyle/>
          <a:p>
            <a:pPr algn="ctr" marL="0" indent="0" lvl="0">
              <a:lnSpc>
                <a:spcPts val="5720"/>
              </a:lnSpc>
              <a:spcBef>
                <a:spcPct val="0"/>
              </a:spcBef>
            </a:pPr>
            <a:r>
              <a:rPr lang="en-US" sz="5200" strike="noStrike" u="none">
                <a:solidFill>
                  <a:srgbClr val="FFFFFF"/>
                </a:solidFill>
                <a:latin typeface="Fredoka"/>
                <a:ea typeface="Fredoka"/>
                <a:cs typeface="Fredoka"/>
                <a:sym typeface="Fredoka"/>
              </a:rPr>
              <a:t>DALAM DUNIA PENDIDIKAN</a:t>
            </a:r>
          </a:p>
        </p:txBody>
      </p:sp>
      <p:sp>
        <p:nvSpPr>
          <p:cNvPr name="AutoShape 13" id="13"/>
          <p:cNvSpPr/>
          <p:nvPr/>
        </p:nvSpPr>
        <p:spPr>
          <a:xfrm>
            <a:off x="3969313" y="4849008"/>
            <a:ext cx="10349375" cy="0"/>
          </a:xfrm>
          <a:prstGeom prst="line">
            <a:avLst/>
          </a:prstGeom>
          <a:ln cap="flat" w="38100">
            <a:solidFill>
              <a:srgbClr val="FFFFFF"/>
            </a:solidFill>
            <a:prstDash val="solid"/>
            <a:headEnd type="none" len="sm" w="sm"/>
            <a:tailEnd type="none" len="sm" w="sm"/>
          </a:ln>
        </p:spPr>
      </p:sp>
      <p:sp>
        <p:nvSpPr>
          <p:cNvPr name="TextBox 14" id="14"/>
          <p:cNvSpPr txBox="true"/>
          <p:nvPr/>
        </p:nvSpPr>
        <p:spPr>
          <a:xfrm rot="0">
            <a:off x="9002837" y="5034915"/>
            <a:ext cx="282327" cy="198120"/>
          </a:xfrm>
          <a:prstGeom prst="rect">
            <a:avLst/>
          </a:prstGeom>
        </p:spPr>
        <p:txBody>
          <a:bodyPr anchor="t" rtlCol="false" tIns="0" lIns="0" bIns="0" rIns="0">
            <a:spAutoFit/>
          </a:bodyPr>
          <a:lstStyle/>
          <a:p>
            <a:pPr algn="ctr" marL="0" indent="0" lvl="0">
              <a:lnSpc>
                <a:spcPts val="1679"/>
              </a:lnSpc>
              <a:spcBef>
                <a:spcPct val="0"/>
              </a:spcBef>
            </a:pPr>
            <a:r>
              <a:rPr lang="en-US" b="true" sz="1200" strike="noStrike" u="none">
                <a:solidFill>
                  <a:srgbClr val="000000"/>
                </a:solidFill>
                <a:latin typeface="Neal"/>
                <a:ea typeface="Neal"/>
                <a:cs typeface="Neal"/>
                <a:sym typeface="Neal"/>
              </a:rPr>
              <a:t>Neal</a:t>
            </a:r>
          </a:p>
        </p:txBody>
      </p:sp>
      <p:sp>
        <p:nvSpPr>
          <p:cNvPr name="TextBox 15" id="15"/>
          <p:cNvSpPr txBox="true"/>
          <p:nvPr/>
        </p:nvSpPr>
        <p:spPr>
          <a:xfrm rot="0">
            <a:off x="9002837" y="5204460"/>
            <a:ext cx="282327" cy="417195"/>
          </a:xfrm>
          <a:prstGeom prst="rect">
            <a:avLst/>
          </a:prstGeom>
        </p:spPr>
        <p:txBody>
          <a:bodyPr anchor="t" rtlCol="false" tIns="0" lIns="0" bIns="0" rIns="0">
            <a:spAutoFit/>
          </a:bodyPr>
          <a:lstStyle/>
          <a:p>
            <a:pPr algn="ctr" marL="0" indent="0" lvl="0">
              <a:lnSpc>
                <a:spcPts val="1679"/>
              </a:lnSpc>
              <a:spcBef>
                <a:spcPct val="0"/>
              </a:spcBef>
            </a:pPr>
            <a:r>
              <a:rPr lang="en-US" b="true" sz="1200" strike="noStrike" u="none">
                <a:solidFill>
                  <a:srgbClr val="000000"/>
                </a:solidFill>
                <a:latin typeface="Trace"/>
                <a:ea typeface="Trace"/>
                <a:cs typeface="Trace"/>
                <a:sym typeface="Trace"/>
              </a:rPr>
              <a:t>Trace</a:t>
            </a:r>
          </a:p>
        </p:txBody>
      </p:sp>
      <p:sp>
        <p:nvSpPr>
          <p:cNvPr name="TextBox 16" id="16"/>
          <p:cNvSpPr txBox="true"/>
          <p:nvPr/>
        </p:nvSpPr>
        <p:spPr>
          <a:xfrm rot="0">
            <a:off x="2478027" y="5191125"/>
            <a:ext cx="7897962" cy="721998"/>
          </a:xfrm>
          <a:prstGeom prst="rect">
            <a:avLst/>
          </a:prstGeom>
        </p:spPr>
        <p:txBody>
          <a:bodyPr anchor="t" rtlCol="false" tIns="0" lIns="0" bIns="0" rIns="0">
            <a:spAutoFit/>
          </a:bodyPr>
          <a:lstStyle/>
          <a:p>
            <a:pPr algn="ctr">
              <a:lnSpc>
                <a:spcPts val="5610"/>
              </a:lnSpc>
            </a:pPr>
            <a:r>
              <a:rPr lang="en-US" sz="5100">
                <a:solidFill>
                  <a:srgbClr val="FFFFFF"/>
                </a:solidFill>
                <a:latin typeface="Fredoka"/>
                <a:ea typeface="Fredoka"/>
                <a:cs typeface="Fredoka"/>
                <a:sym typeface="Fredoka"/>
              </a:rPr>
              <a:t>KELOMPOK 3:</a:t>
            </a:r>
          </a:p>
        </p:txBody>
      </p:sp>
      <p:sp>
        <p:nvSpPr>
          <p:cNvPr name="TextBox 17" id="17"/>
          <p:cNvSpPr txBox="true"/>
          <p:nvPr/>
        </p:nvSpPr>
        <p:spPr>
          <a:xfrm rot="0">
            <a:off x="3493397" y="7325687"/>
            <a:ext cx="7897962"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ALYA  RAMADHANI AFIDAH</a:t>
            </a:r>
          </a:p>
        </p:txBody>
      </p:sp>
      <p:sp>
        <p:nvSpPr>
          <p:cNvPr name="TextBox 18" id="18"/>
          <p:cNvSpPr txBox="true"/>
          <p:nvPr/>
        </p:nvSpPr>
        <p:spPr>
          <a:xfrm rot="0">
            <a:off x="3493397" y="5998848"/>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AMARRYLIS CHELSEA NATHANIELA ’ ASYURA</a:t>
            </a:r>
          </a:p>
        </p:txBody>
      </p:sp>
      <p:sp>
        <p:nvSpPr>
          <p:cNvPr name="TextBox 19" id="19"/>
          <p:cNvSpPr txBox="true"/>
          <p:nvPr/>
        </p:nvSpPr>
        <p:spPr>
          <a:xfrm rot="0">
            <a:off x="3493397" y="6697986"/>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ICHSAN HAFIDZ AL FAJRY</a:t>
            </a:r>
          </a:p>
        </p:txBody>
      </p:sp>
      <p:sp>
        <p:nvSpPr>
          <p:cNvPr name="TextBox 20" id="20"/>
          <p:cNvSpPr txBox="true"/>
          <p:nvPr/>
        </p:nvSpPr>
        <p:spPr>
          <a:xfrm rot="0">
            <a:off x="3493397" y="7953387"/>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ANUGRAH WILDAN BAHTIAR</a:t>
            </a:r>
          </a:p>
        </p:txBody>
      </p:sp>
      <p:sp>
        <p:nvSpPr>
          <p:cNvPr name="TextBox 21" id="21"/>
          <p:cNvSpPr txBox="true"/>
          <p:nvPr/>
        </p:nvSpPr>
        <p:spPr>
          <a:xfrm rot="0">
            <a:off x="3493397" y="8557276"/>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JIHARA RAMADHANI FIRDAUSI NUJULA</a:t>
            </a:r>
          </a:p>
        </p:txBody>
      </p:sp>
      <p:sp>
        <p:nvSpPr>
          <p:cNvPr name="TextBox 22" id="22"/>
          <p:cNvSpPr txBox="true"/>
          <p:nvPr/>
        </p:nvSpPr>
        <p:spPr>
          <a:xfrm rot="0">
            <a:off x="9771665" y="6448429"/>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DITA DWI ARIANTI</a:t>
            </a:r>
          </a:p>
        </p:txBody>
      </p:sp>
      <p:sp>
        <p:nvSpPr>
          <p:cNvPr name="TextBox 23" id="23"/>
          <p:cNvSpPr txBox="true"/>
          <p:nvPr/>
        </p:nvSpPr>
        <p:spPr>
          <a:xfrm rot="0">
            <a:off x="9771665" y="7004693"/>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WAHYU DWI APRILIA</a:t>
            </a:r>
          </a:p>
        </p:txBody>
      </p:sp>
      <p:sp>
        <p:nvSpPr>
          <p:cNvPr name="TextBox 24" id="24"/>
          <p:cNvSpPr txBox="true"/>
          <p:nvPr/>
        </p:nvSpPr>
        <p:spPr>
          <a:xfrm rot="0">
            <a:off x="9771665" y="7575243"/>
            <a:ext cx="10312450" cy="470538"/>
          </a:xfrm>
          <a:prstGeom prst="rect">
            <a:avLst/>
          </a:prstGeom>
        </p:spPr>
        <p:txBody>
          <a:bodyPr anchor="t" rtlCol="false" tIns="0" lIns="0" bIns="0" rIns="0">
            <a:spAutoFit/>
          </a:bodyPr>
          <a:lstStyle/>
          <a:p>
            <a:pPr algn="l" marL="712525" indent="-356263" lvl="1">
              <a:lnSpc>
                <a:spcPts val="3630"/>
              </a:lnSpc>
              <a:buAutoNum type="arabicPeriod" startAt="1"/>
            </a:pPr>
            <a:r>
              <a:rPr lang="en-US" sz="3300">
                <a:solidFill>
                  <a:srgbClr val="FFFFFF"/>
                </a:solidFill>
                <a:latin typeface="Fredoka"/>
                <a:ea typeface="Fredoka"/>
                <a:cs typeface="Fredoka"/>
                <a:sym typeface="Fredoka"/>
              </a:rPr>
              <a:t>DESY RATNA SYAFITRI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12171254" y="-1154021"/>
            <a:ext cx="6676155" cy="4022542"/>
          </a:xfrm>
          <a:custGeom>
            <a:avLst/>
            <a:gdLst/>
            <a:ahLst/>
            <a:cxnLst/>
            <a:rect r="r" b="b" t="t" l="l"/>
            <a:pathLst>
              <a:path h="4022542" w="6676155">
                <a:moveTo>
                  <a:pt x="6676155" y="0"/>
                </a:moveTo>
                <a:lnTo>
                  <a:pt x="0" y="0"/>
                </a:lnTo>
                <a:lnTo>
                  <a:pt x="0" y="4022542"/>
                </a:lnTo>
                <a:lnTo>
                  <a:pt x="6676155" y="4022542"/>
                </a:lnTo>
                <a:lnTo>
                  <a:pt x="6676155"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250056" y="790575"/>
            <a:ext cx="15259275" cy="5006889"/>
          </a:xfrm>
          <a:prstGeom prst="rect">
            <a:avLst/>
          </a:prstGeom>
        </p:spPr>
        <p:txBody>
          <a:bodyPr anchor="t" rtlCol="false" tIns="0" lIns="0" bIns="0" rIns="0">
            <a:spAutoFit/>
          </a:bodyPr>
          <a:lstStyle/>
          <a:p>
            <a:pPr algn="l">
              <a:lnSpc>
                <a:spcPts val="3926"/>
              </a:lnSpc>
            </a:pPr>
            <a:r>
              <a:rPr lang="en-US" sz="3020">
                <a:solidFill>
                  <a:srgbClr val="AA4949"/>
                </a:solidFill>
                <a:latin typeface="Poppins"/>
                <a:ea typeface="Poppins"/>
                <a:cs typeface="Poppins"/>
                <a:sym typeface="Poppins"/>
              </a:rPr>
              <a:t>Pancasila merupakan dasar negara dan falsafah pendidikan yang fundamental untuk membentuk karakter generasi muda, di mana implementasinya sangat urgen untuk mengatasi peningkatan pelanggaran moral, namun sering terkendala oleh pendekatan kurikulum yang normatif dan tantangan globalisasi; oleh karena itu, Pendidikan Pancasila perlu diintegrasikan secara holistik dan didukung peran sentral guru serta lingkungan sekolah, agar dapat menanamkan nilai-nilai luhur (seperti religiusitas, persatuan, dan keadilan) untuk menghasilkan individu yang tidak hanya cerdas akademik, tetapi juga berkarakter kuat, mandiri, dan berakhlak sesuai identitas bangsa yang multikultural.</a:t>
            </a:r>
          </a:p>
        </p:txBody>
      </p:sp>
      <p:sp>
        <p:nvSpPr>
          <p:cNvPr name="Freeform 5" id="5"/>
          <p:cNvSpPr/>
          <p:nvPr/>
        </p:nvSpPr>
        <p:spPr>
          <a:xfrm flipH="false" flipV="false" rot="769434">
            <a:off x="-784883" y="9270250"/>
            <a:ext cx="7315200" cy="3981828"/>
          </a:xfrm>
          <a:custGeom>
            <a:avLst/>
            <a:gdLst/>
            <a:ahLst/>
            <a:cxnLst/>
            <a:rect r="r" b="b" t="t" l="l"/>
            <a:pathLst>
              <a:path h="3981828" w="7315200">
                <a:moveTo>
                  <a:pt x="0" y="0"/>
                </a:moveTo>
                <a:lnTo>
                  <a:pt x="7315200" y="0"/>
                </a:lnTo>
                <a:lnTo>
                  <a:pt x="7315200" y="3981828"/>
                </a:lnTo>
                <a:lnTo>
                  <a:pt x="0" y="39818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6" id="6"/>
          <p:cNvSpPr/>
          <p:nvPr/>
        </p:nvSpPr>
        <p:spPr>
          <a:xfrm flipH="false" flipV="false" rot="-729482">
            <a:off x="11176386" y="8220064"/>
            <a:ext cx="7315200" cy="2819677"/>
          </a:xfrm>
          <a:custGeom>
            <a:avLst/>
            <a:gdLst/>
            <a:ahLst/>
            <a:cxnLst/>
            <a:rect r="r" b="b" t="t" l="l"/>
            <a:pathLst>
              <a:path h="2819677" w="7315200">
                <a:moveTo>
                  <a:pt x="0" y="0"/>
                </a:moveTo>
                <a:lnTo>
                  <a:pt x="7315200" y="0"/>
                </a:lnTo>
                <a:lnTo>
                  <a:pt x="7315200" y="2819678"/>
                </a:lnTo>
                <a:lnTo>
                  <a:pt x="0" y="28196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171733"/>
            <a:ext cx="8984726" cy="857250"/>
          </a:xfrm>
          <a:prstGeom prst="rect">
            <a:avLst/>
          </a:prstGeom>
        </p:spPr>
        <p:txBody>
          <a:bodyPr anchor="t" rtlCol="false" tIns="0" lIns="0" bIns="0" rIns="0">
            <a:spAutoFit/>
          </a:bodyPr>
          <a:lstStyle/>
          <a:p>
            <a:pPr algn="ctr">
              <a:lnSpc>
                <a:spcPts val="6600"/>
              </a:lnSpc>
            </a:pPr>
            <a:r>
              <a:rPr lang="en-US" sz="6000">
                <a:solidFill>
                  <a:srgbClr val="BF7875"/>
                </a:solidFill>
                <a:latin typeface="Fredoka"/>
                <a:ea typeface="Fredoka"/>
                <a:cs typeface="Fredoka"/>
                <a:sym typeface="Fredoka"/>
              </a:rPr>
              <a:t>LATAR BELAKANG</a:t>
            </a:r>
          </a:p>
        </p:txBody>
      </p:sp>
      <p:sp>
        <p:nvSpPr>
          <p:cNvPr name="TextBox 8" id="8"/>
          <p:cNvSpPr txBox="true"/>
          <p:nvPr/>
        </p:nvSpPr>
        <p:spPr>
          <a:xfrm rot="0">
            <a:off x="6880979" y="5738615"/>
            <a:ext cx="8984726" cy="857250"/>
          </a:xfrm>
          <a:prstGeom prst="rect">
            <a:avLst/>
          </a:prstGeom>
        </p:spPr>
        <p:txBody>
          <a:bodyPr anchor="t" rtlCol="false" tIns="0" lIns="0" bIns="0" rIns="0">
            <a:spAutoFit/>
          </a:bodyPr>
          <a:lstStyle/>
          <a:p>
            <a:pPr algn="ctr">
              <a:lnSpc>
                <a:spcPts val="6600"/>
              </a:lnSpc>
            </a:pPr>
            <a:r>
              <a:rPr lang="en-US" sz="6000">
                <a:solidFill>
                  <a:srgbClr val="BF7875"/>
                </a:solidFill>
                <a:latin typeface="Fredoka"/>
                <a:ea typeface="Fredoka"/>
                <a:cs typeface="Fredoka"/>
                <a:sym typeface="Fredoka"/>
              </a:rPr>
              <a:t>rumusan masalah</a:t>
            </a:r>
          </a:p>
        </p:txBody>
      </p:sp>
      <p:sp>
        <p:nvSpPr>
          <p:cNvPr name="TextBox 9" id="9"/>
          <p:cNvSpPr txBox="true"/>
          <p:nvPr/>
        </p:nvSpPr>
        <p:spPr>
          <a:xfrm rot="0">
            <a:off x="3284558" y="6538715"/>
            <a:ext cx="8088783" cy="1532577"/>
          </a:xfrm>
          <a:prstGeom prst="rect">
            <a:avLst/>
          </a:prstGeom>
        </p:spPr>
        <p:txBody>
          <a:bodyPr anchor="t" rtlCol="false" tIns="0" lIns="0" bIns="0" rIns="0">
            <a:spAutoFit/>
          </a:bodyPr>
          <a:lstStyle/>
          <a:p>
            <a:pPr algn="l" marL="663821" indent="-331911" lvl="1">
              <a:lnSpc>
                <a:spcPts val="3997"/>
              </a:lnSpc>
              <a:buAutoNum type="arabicPeriod" startAt="1"/>
            </a:pPr>
            <a:r>
              <a:rPr lang="en-US" sz="3074">
                <a:solidFill>
                  <a:srgbClr val="AA4949"/>
                </a:solidFill>
                <a:latin typeface="Poppins"/>
                <a:ea typeface="Poppins"/>
                <a:cs typeface="Poppins"/>
                <a:sym typeface="Poppins"/>
              </a:rPr>
              <a:t>Bagaimanakah peran pancasila dalam dunia pendidikan di indonesia?</a:t>
            </a:r>
          </a:p>
        </p:txBody>
      </p:sp>
      <p:sp>
        <p:nvSpPr>
          <p:cNvPr name="TextBox 10" id="10"/>
          <p:cNvSpPr txBox="true"/>
          <p:nvPr/>
        </p:nvSpPr>
        <p:spPr>
          <a:xfrm rot="0">
            <a:off x="5521063" y="8014141"/>
            <a:ext cx="8088783" cy="1532577"/>
          </a:xfrm>
          <a:prstGeom prst="rect">
            <a:avLst/>
          </a:prstGeom>
        </p:spPr>
        <p:txBody>
          <a:bodyPr anchor="t" rtlCol="false" tIns="0" lIns="0" bIns="0" rIns="0">
            <a:spAutoFit/>
          </a:bodyPr>
          <a:lstStyle/>
          <a:p>
            <a:pPr algn="l" marL="663821" indent="-331911" lvl="1">
              <a:lnSpc>
                <a:spcPts val="3997"/>
              </a:lnSpc>
              <a:buAutoNum type="arabicPeriod" startAt="1"/>
            </a:pPr>
            <a:r>
              <a:rPr lang="en-US" sz="3074">
                <a:solidFill>
                  <a:srgbClr val="AA4949"/>
                </a:solidFill>
                <a:latin typeface="Poppins"/>
                <a:ea typeface="Poppins"/>
                <a:cs typeface="Poppins"/>
                <a:sym typeface="Poppins"/>
              </a:rPr>
              <a:t>Bagaimanakah implementasi pancasila dalam kurikulum pendidikan nasional?</a:t>
            </a:r>
          </a:p>
        </p:txBody>
      </p:sp>
      <p:sp>
        <p:nvSpPr>
          <p:cNvPr name="TextBox 11" id="11"/>
          <p:cNvSpPr txBox="true"/>
          <p:nvPr/>
        </p:nvSpPr>
        <p:spPr>
          <a:xfrm rot="0">
            <a:off x="10388551" y="6538715"/>
            <a:ext cx="8088783" cy="1532577"/>
          </a:xfrm>
          <a:prstGeom prst="rect">
            <a:avLst/>
          </a:prstGeom>
        </p:spPr>
        <p:txBody>
          <a:bodyPr anchor="t" rtlCol="false" tIns="0" lIns="0" bIns="0" rIns="0">
            <a:spAutoFit/>
          </a:bodyPr>
          <a:lstStyle/>
          <a:p>
            <a:pPr algn="l" marL="663821" indent="-331911" lvl="1">
              <a:lnSpc>
                <a:spcPts val="3997"/>
              </a:lnSpc>
              <a:buAutoNum type="arabicPeriod" startAt="1"/>
            </a:pPr>
            <a:r>
              <a:rPr lang="en-US" sz="3074">
                <a:solidFill>
                  <a:srgbClr val="AA4949"/>
                </a:solidFill>
                <a:latin typeface="Poppins"/>
                <a:ea typeface="Poppins"/>
                <a:cs typeface="Poppins"/>
                <a:sym typeface="Poppins"/>
              </a:rPr>
              <a:t>Bagaimanakah arus globalisasi mempengaruhi pemahaman siswa mengenai pancasila?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53581" y="-873918"/>
            <a:ext cx="5817237" cy="3505023"/>
          </a:xfrm>
          <a:custGeom>
            <a:avLst/>
            <a:gdLst/>
            <a:ahLst/>
            <a:cxnLst/>
            <a:rect r="r" b="b" t="t" l="l"/>
            <a:pathLst>
              <a:path h="3505023" w="5817237">
                <a:moveTo>
                  <a:pt x="0" y="0"/>
                </a:moveTo>
                <a:lnTo>
                  <a:pt x="5817237" y="0"/>
                </a:lnTo>
                <a:lnTo>
                  <a:pt x="5817237" y="3505022"/>
                </a:lnTo>
                <a:lnTo>
                  <a:pt x="0" y="35050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381525">
            <a:off x="11583829" y="-798483"/>
            <a:ext cx="9006402" cy="8229600"/>
          </a:xfrm>
          <a:custGeom>
            <a:avLst/>
            <a:gdLst/>
            <a:ahLst/>
            <a:cxnLst/>
            <a:rect r="r" b="b" t="t" l="l"/>
            <a:pathLst>
              <a:path h="8229600" w="9006402">
                <a:moveTo>
                  <a:pt x="0" y="0"/>
                </a:moveTo>
                <a:lnTo>
                  <a:pt x="9006402" y="0"/>
                </a:lnTo>
                <a:lnTo>
                  <a:pt x="9006402" y="8229600"/>
                </a:lnTo>
                <a:lnTo>
                  <a:pt x="0" y="8229600"/>
                </a:lnTo>
                <a:lnTo>
                  <a:pt x="0" y="0"/>
                </a:lnTo>
                <a:close/>
              </a:path>
            </a:pathLst>
          </a:custGeom>
          <a:blipFill>
            <a:blip r:embed="rId5"/>
            <a:stretch>
              <a:fillRect l="0" t="0" r="0" b="0"/>
            </a:stretch>
          </a:blipFill>
        </p:spPr>
      </p:sp>
      <p:sp>
        <p:nvSpPr>
          <p:cNvPr name="Freeform 5" id="5"/>
          <p:cNvSpPr/>
          <p:nvPr/>
        </p:nvSpPr>
        <p:spPr>
          <a:xfrm flipH="false" flipV="false" rot="-10448324">
            <a:off x="11254052" y="6978512"/>
            <a:ext cx="7567463" cy="4559576"/>
          </a:xfrm>
          <a:custGeom>
            <a:avLst/>
            <a:gdLst/>
            <a:ahLst/>
            <a:cxnLst/>
            <a:rect r="r" b="b" t="t" l="l"/>
            <a:pathLst>
              <a:path h="4559576" w="7567463">
                <a:moveTo>
                  <a:pt x="0" y="0"/>
                </a:moveTo>
                <a:lnTo>
                  <a:pt x="7567463" y="0"/>
                </a:lnTo>
                <a:lnTo>
                  <a:pt x="7567463" y="4559576"/>
                </a:lnTo>
                <a:lnTo>
                  <a:pt x="0" y="4559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6" id="6"/>
          <p:cNvGrpSpPr/>
          <p:nvPr/>
        </p:nvGrpSpPr>
        <p:grpSpPr>
          <a:xfrm rot="0">
            <a:off x="1123367" y="1182271"/>
            <a:ext cx="14386122" cy="8247479"/>
            <a:chOff x="0" y="0"/>
            <a:chExt cx="3788937" cy="2172176"/>
          </a:xfrm>
        </p:grpSpPr>
        <p:sp>
          <p:nvSpPr>
            <p:cNvPr name="Freeform 7" id="7"/>
            <p:cNvSpPr/>
            <p:nvPr/>
          </p:nvSpPr>
          <p:spPr>
            <a:xfrm flipH="false" flipV="false" rot="0">
              <a:off x="0" y="0"/>
              <a:ext cx="3788937" cy="2172176"/>
            </a:xfrm>
            <a:custGeom>
              <a:avLst/>
              <a:gdLst/>
              <a:ahLst/>
              <a:cxnLst/>
              <a:rect r="r" b="b" t="t" l="l"/>
              <a:pathLst>
                <a:path h="2172176" w="3788937">
                  <a:moveTo>
                    <a:pt x="27446" y="0"/>
                  </a:moveTo>
                  <a:lnTo>
                    <a:pt x="3761492" y="0"/>
                  </a:lnTo>
                  <a:cubicBezTo>
                    <a:pt x="3768771" y="0"/>
                    <a:pt x="3775752" y="2892"/>
                    <a:pt x="3780899" y="8039"/>
                  </a:cubicBezTo>
                  <a:cubicBezTo>
                    <a:pt x="3786046" y="13186"/>
                    <a:pt x="3788937" y="20167"/>
                    <a:pt x="3788937" y="27446"/>
                  </a:cubicBezTo>
                  <a:lnTo>
                    <a:pt x="3788937" y="2144730"/>
                  </a:lnTo>
                  <a:cubicBezTo>
                    <a:pt x="3788937" y="2159888"/>
                    <a:pt x="3776649" y="2172176"/>
                    <a:pt x="3761492" y="2172176"/>
                  </a:cubicBezTo>
                  <a:lnTo>
                    <a:pt x="27446" y="2172176"/>
                  </a:lnTo>
                  <a:cubicBezTo>
                    <a:pt x="12288" y="2172176"/>
                    <a:pt x="0" y="2159888"/>
                    <a:pt x="0" y="2144730"/>
                  </a:cubicBezTo>
                  <a:lnTo>
                    <a:pt x="0" y="27446"/>
                  </a:lnTo>
                  <a:cubicBezTo>
                    <a:pt x="0" y="12288"/>
                    <a:pt x="12288" y="0"/>
                    <a:pt x="27446" y="0"/>
                  </a:cubicBezTo>
                  <a:close/>
                </a:path>
              </a:pathLst>
            </a:custGeom>
            <a:solidFill>
              <a:srgbClr val="AA4949"/>
            </a:solidFill>
          </p:spPr>
        </p:sp>
        <p:sp>
          <p:nvSpPr>
            <p:cNvPr name="TextBox 8" id="8"/>
            <p:cNvSpPr txBox="true"/>
            <p:nvPr/>
          </p:nvSpPr>
          <p:spPr>
            <a:xfrm>
              <a:off x="0" y="-38100"/>
              <a:ext cx="3788937" cy="221027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63894" y="325021"/>
            <a:ext cx="8637863" cy="857250"/>
          </a:xfrm>
          <a:prstGeom prst="rect">
            <a:avLst/>
          </a:prstGeom>
        </p:spPr>
        <p:txBody>
          <a:bodyPr anchor="t" rtlCol="false" tIns="0" lIns="0" bIns="0" rIns="0">
            <a:spAutoFit/>
          </a:bodyPr>
          <a:lstStyle/>
          <a:p>
            <a:pPr algn="ctr">
              <a:lnSpc>
                <a:spcPts val="6600"/>
              </a:lnSpc>
            </a:pPr>
            <a:r>
              <a:rPr lang="en-US" sz="6000">
                <a:solidFill>
                  <a:srgbClr val="F5986A"/>
                </a:solidFill>
                <a:latin typeface="Fredoka"/>
                <a:ea typeface="Fredoka"/>
                <a:cs typeface="Fredoka"/>
                <a:sym typeface="Fredoka"/>
              </a:rPr>
              <a:t>pembahasan</a:t>
            </a:r>
          </a:p>
        </p:txBody>
      </p:sp>
      <p:sp>
        <p:nvSpPr>
          <p:cNvPr name="TextBox 10" id="10"/>
          <p:cNvSpPr txBox="true"/>
          <p:nvPr/>
        </p:nvSpPr>
        <p:spPr>
          <a:xfrm rot="0">
            <a:off x="1028700" y="1588397"/>
            <a:ext cx="7502660" cy="495300"/>
          </a:xfrm>
          <a:prstGeom prst="rect">
            <a:avLst/>
          </a:prstGeom>
        </p:spPr>
        <p:txBody>
          <a:bodyPr anchor="t" rtlCol="false" tIns="0" lIns="0" bIns="0" rIns="0">
            <a:spAutoFit/>
          </a:bodyPr>
          <a:lstStyle/>
          <a:p>
            <a:pPr algn="l" marL="647698" indent="-323849" lvl="1">
              <a:lnSpc>
                <a:spcPts val="3899"/>
              </a:lnSpc>
              <a:spcBef>
                <a:spcPct val="0"/>
              </a:spcBef>
              <a:buAutoNum type="arabicPeriod" startAt="1"/>
            </a:pPr>
            <a:r>
              <a:rPr lang="en-US" b="true" sz="2999">
                <a:solidFill>
                  <a:srgbClr val="FFFFFF"/>
                </a:solidFill>
                <a:latin typeface="Poppins Bold"/>
                <a:ea typeface="Poppins Bold"/>
                <a:cs typeface="Poppins Bold"/>
                <a:sym typeface="Poppins Bold"/>
              </a:rPr>
              <a:t>Peran Pancasila dalam Pendidikan</a:t>
            </a:r>
          </a:p>
        </p:txBody>
      </p:sp>
      <p:sp>
        <p:nvSpPr>
          <p:cNvPr name="Freeform 11" id="11"/>
          <p:cNvSpPr/>
          <p:nvPr/>
        </p:nvSpPr>
        <p:spPr>
          <a:xfrm flipH="false" flipV="false" rot="713023">
            <a:off x="-950386" y="7458534"/>
            <a:ext cx="4336841" cy="3599532"/>
          </a:xfrm>
          <a:custGeom>
            <a:avLst/>
            <a:gdLst/>
            <a:ahLst/>
            <a:cxnLst/>
            <a:rect r="r" b="b" t="t" l="l"/>
            <a:pathLst>
              <a:path h="3599532" w="4336841">
                <a:moveTo>
                  <a:pt x="0" y="0"/>
                </a:moveTo>
                <a:lnTo>
                  <a:pt x="4336841" y="0"/>
                </a:lnTo>
                <a:lnTo>
                  <a:pt x="4336841" y="3599532"/>
                </a:lnTo>
                <a:lnTo>
                  <a:pt x="0" y="35995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218034" y="3873013"/>
            <a:ext cx="6827067" cy="972349"/>
          </a:xfrm>
          <a:prstGeom prst="rect">
            <a:avLst/>
          </a:prstGeom>
        </p:spPr>
        <p:txBody>
          <a:bodyPr anchor="t" rtlCol="false" tIns="0" lIns="0" bIns="0" rIns="0">
            <a:spAutoFit/>
          </a:bodyPr>
          <a:lstStyle/>
          <a:p>
            <a:pPr algn="ctr" marL="634116" indent="-317058" lvl="1">
              <a:lnSpc>
                <a:spcPts val="3818"/>
              </a:lnSpc>
              <a:spcBef>
                <a:spcPct val="0"/>
              </a:spcBef>
              <a:buAutoNum type="arabicPeriod" startAt="1"/>
            </a:pPr>
            <a:r>
              <a:rPr lang="en-US" b="true" sz="2937">
                <a:solidFill>
                  <a:srgbClr val="FFFFFF"/>
                </a:solidFill>
                <a:latin typeface="Poppins Bold"/>
                <a:ea typeface="Poppins Bold"/>
                <a:cs typeface="Poppins Bold"/>
                <a:sym typeface="Poppins Bold"/>
              </a:rPr>
              <a:t>Implementasi Pancasila dalam Dunia Pendidikan</a:t>
            </a:r>
          </a:p>
        </p:txBody>
      </p:sp>
      <p:sp>
        <p:nvSpPr>
          <p:cNvPr name="TextBox 13" id="13"/>
          <p:cNvSpPr txBox="true"/>
          <p:nvPr/>
        </p:nvSpPr>
        <p:spPr>
          <a:xfrm rot="0">
            <a:off x="8316428" y="3717193"/>
            <a:ext cx="6834884" cy="981075"/>
          </a:xfrm>
          <a:prstGeom prst="rect">
            <a:avLst/>
          </a:prstGeom>
        </p:spPr>
        <p:txBody>
          <a:bodyPr anchor="t" rtlCol="false" tIns="0" lIns="0" bIns="0" rIns="0">
            <a:spAutoFit/>
          </a:bodyPr>
          <a:lstStyle/>
          <a:p>
            <a:pPr algn="ctr" marL="647698" indent="-323849" lvl="1">
              <a:lnSpc>
                <a:spcPts val="3899"/>
              </a:lnSpc>
              <a:spcBef>
                <a:spcPct val="0"/>
              </a:spcBef>
              <a:buAutoNum type="arabicPeriod" startAt="1"/>
            </a:pPr>
            <a:r>
              <a:rPr lang="en-US" b="true" sz="2999">
                <a:solidFill>
                  <a:srgbClr val="FFFFFF"/>
                </a:solidFill>
                <a:latin typeface="Poppins Bold"/>
                <a:ea typeface="Poppins Bold"/>
                <a:cs typeface="Poppins Bold"/>
                <a:sym typeface="Poppins Bold"/>
              </a:rPr>
              <a:t>Pengaruh Globalisasi terhadap Pemahaman Siswa</a:t>
            </a:r>
          </a:p>
        </p:txBody>
      </p:sp>
      <p:sp>
        <p:nvSpPr>
          <p:cNvPr name="TextBox 14" id="14"/>
          <p:cNvSpPr txBox="true"/>
          <p:nvPr/>
        </p:nvSpPr>
        <p:spPr>
          <a:xfrm rot="0">
            <a:off x="1312701" y="2036073"/>
            <a:ext cx="14196788" cy="1728745"/>
          </a:xfrm>
          <a:prstGeom prst="rect">
            <a:avLst/>
          </a:prstGeom>
        </p:spPr>
        <p:txBody>
          <a:bodyPr anchor="t" rtlCol="false" tIns="0" lIns="0" bIns="0" rIns="0">
            <a:spAutoFit/>
          </a:bodyPr>
          <a:lstStyle/>
          <a:p>
            <a:pPr algn="l">
              <a:lnSpc>
                <a:spcPts val="3416"/>
              </a:lnSpc>
              <a:spcBef>
                <a:spcPct val="0"/>
              </a:spcBef>
            </a:pPr>
            <a:r>
              <a:rPr lang="en-US" sz="2628">
                <a:solidFill>
                  <a:srgbClr val="FFFFFF"/>
                </a:solidFill>
                <a:latin typeface="Poppins"/>
                <a:ea typeface="Poppins"/>
                <a:cs typeface="Poppins"/>
                <a:sym typeface="Poppins"/>
              </a:rPr>
              <a:t>Pancasila adalah dasar moral dan etika pendidikan Indonesia yang bertujuan utama membentuk manusia berkepribadian Pancasila—yakni individu yang religius, humanis, nasionalis, demokratis, dan berkeadilan sosial—agar siap menghadapi tantangan global.</a:t>
            </a:r>
          </a:p>
        </p:txBody>
      </p:sp>
      <p:sp>
        <p:nvSpPr>
          <p:cNvPr name="AutoShape 15" id="15"/>
          <p:cNvSpPr/>
          <p:nvPr/>
        </p:nvSpPr>
        <p:spPr>
          <a:xfrm>
            <a:off x="8411095" y="3764818"/>
            <a:ext cx="0" cy="4842955"/>
          </a:xfrm>
          <a:prstGeom prst="line">
            <a:avLst/>
          </a:prstGeom>
          <a:ln cap="flat" w="38100">
            <a:solidFill>
              <a:srgbClr val="FFFFFF"/>
            </a:solidFill>
            <a:prstDash val="solid"/>
            <a:headEnd type="none" len="sm" w="sm"/>
            <a:tailEnd type="none" len="sm" w="sm"/>
          </a:ln>
        </p:spPr>
      </p:sp>
      <p:sp>
        <p:nvSpPr>
          <p:cNvPr name="TextBox 16" id="16"/>
          <p:cNvSpPr txBox="true"/>
          <p:nvPr/>
        </p:nvSpPr>
        <p:spPr>
          <a:xfrm rot="0">
            <a:off x="1432966" y="4797737"/>
            <a:ext cx="6883462" cy="2642680"/>
          </a:xfrm>
          <a:prstGeom prst="rect">
            <a:avLst/>
          </a:prstGeom>
        </p:spPr>
        <p:txBody>
          <a:bodyPr anchor="t" rtlCol="false" tIns="0" lIns="0" bIns="0" rIns="0">
            <a:spAutoFit/>
          </a:bodyPr>
          <a:lstStyle/>
          <a:p>
            <a:pPr algn="ctr">
              <a:lnSpc>
                <a:spcPts val="3464"/>
              </a:lnSpc>
              <a:spcBef>
                <a:spcPct val="0"/>
              </a:spcBef>
            </a:pPr>
            <a:r>
              <a:rPr lang="en-US" sz="2664">
                <a:solidFill>
                  <a:srgbClr val="FFFFFF"/>
                </a:solidFill>
                <a:latin typeface="Poppins"/>
                <a:ea typeface="Poppins"/>
                <a:cs typeface="Poppins"/>
                <a:sym typeface="Poppins"/>
              </a:rPr>
              <a:t>Pancasila sebagai ideologi pendidikan diimplementasikan melalui Profil Pelajar Pancasila (Kurikulum Merdeka) untuk menghasilkan generasi yang berkarakter nasional (beriman, mandiri, kritis, dsb.) dan siap bersaing global.</a:t>
            </a:r>
          </a:p>
        </p:txBody>
      </p:sp>
      <p:sp>
        <p:nvSpPr>
          <p:cNvPr name="TextBox 17" id="17"/>
          <p:cNvSpPr txBox="true"/>
          <p:nvPr/>
        </p:nvSpPr>
        <p:spPr>
          <a:xfrm rot="0">
            <a:off x="8411095" y="4650643"/>
            <a:ext cx="7098394" cy="3957130"/>
          </a:xfrm>
          <a:prstGeom prst="rect">
            <a:avLst/>
          </a:prstGeom>
        </p:spPr>
        <p:txBody>
          <a:bodyPr anchor="t" rtlCol="false" tIns="0" lIns="0" bIns="0" rIns="0">
            <a:spAutoFit/>
          </a:bodyPr>
          <a:lstStyle/>
          <a:p>
            <a:pPr algn="ctr">
              <a:lnSpc>
                <a:spcPts val="3464"/>
              </a:lnSpc>
              <a:spcBef>
                <a:spcPct val="0"/>
              </a:spcBef>
            </a:pPr>
            <a:r>
              <a:rPr lang="en-US" sz="2664">
                <a:solidFill>
                  <a:srgbClr val="FFFFFF"/>
                </a:solidFill>
                <a:latin typeface="Poppins"/>
                <a:ea typeface="Poppins"/>
                <a:cs typeface="Poppins"/>
                <a:sym typeface="Poppins"/>
              </a:rPr>
              <a:t>Globalisasi menciptakan krisis moral dan identitas pada siswa akibat masuknya ideologi asing yang berlawanan dengan nilai-nilai luhur bangsa. Oleh karena itu, Pancasila wajib berfungsi sebagai filter utama yang diperkuat melalui pendidikan dan literasi digital agar siswa tetap berkarakter kuat dan kritis dalam menghadapi arus informasi global.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0"/>
            <a:ext cx="11280751" cy="6277516"/>
          </a:xfrm>
          <a:custGeom>
            <a:avLst/>
            <a:gdLst/>
            <a:ahLst/>
            <a:cxnLst/>
            <a:rect r="r" b="b" t="t" l="l"/>
            <a:pathLst>
              <a:path h="6277516" w="11280751">
                <a:moveTo>
                  <a:pt x="0" y="0"/>
                </a:moveTo>
                <a:lnTo>
                  <a:pt x="11280751" y="0"/>
                </a:lnTo>
                <a:lnTo>
                  <a:pt x="11280751" y="6277516"/>
                </a:lnTo>
                <a:lnTo>
                  <a:pt x="0" y="62775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86636" y="457211"/>
            <a:ext cx="6075170" cy="857228"/>
          </a:xfrm>
          <a:prstGeom prst="rect">
            <a:avLst/>
          </a:prstGeom>
        </p:spPr>
        <p:txBody>
          <a:bodyPr anchor="t" rtlCol="false" tIns="0" lIns="0" bIns="0" rIns="0">
            <a:spAutoFit/>
          </a:bodyPr>
          <a:lstStyle/>
          <a:p>
            <a:pPr algn="ctr">
              <a:lnSpc>
                <a:spcPts val="6600"/>
              </a:lnSpc>
            </a:pPr>
            <a:r>
              <a:rPr lang="en-US" sz="6000">
                <a:solidFill>
                  <a:srgbClr val="FFFFFF"/>
                </a:solidFill>
                <a:latin typeface="Fredoka"/>
                <a:ea typeface="Fredoka"/>
                <a:cs typeface="Fredoka"/>
                <a:sym typeface="Fredoka"/>
              </a:rPr>
              <a:t>Kesimpulan</a:t>
            </a:r>
          </a:p>
        </p:txBody>
      </p:sp>
      <p:sp>
        <p:nvSpPr>
          <p:cNvPr name="TextBox 5" id="5"/>
          <p:cNvSpPr txBox="true"/>
          <p:nvPr/>
        </p:nvSpPr>
        <p:spPr>
          <a:xfrm rot="0">
            <a:off x="1167118" y="1395071"/>
            <a:ext cx="8946514" cy="3633173"/>
          </a:xfrm>
          <a:prstGeom prst="rect">
            <a:avLst/>
          </a:prstGeom>
        </p:spPr>
        <p:txBody>
          <a:bodyPr anchor="t" rtlCol="false" tIns="0" lIns="0" bIns="0" rIns="0">
            <a:spAutoFit/>
          </a:bodyPr>
          <a:lstStyle/>
          <a:p>
            <a:pPr algn="ctr">
              <a:lnSpc>
                <a:spcPts val="4112"/>
              </a:lnSpc>
            </a:pPr>
            <a:r>
              <a:rPr lang="en-US" sz="3163">
                <a:solidFill>
                  <a:srgbClr val="FFFFFF"/>
                </a:solidFill>
                <a:latin typeface="Poppins"/>
                <a:ea typeface="Poppins"/>
                <a:cs typeface="Poppins"/>
                <a:sym typeface="Poppins"/>
              </a:rPr>
              <a:t>Pancasila memiliki peran fundamental dalam membentuk identitas dan moralitas generasi muda.</a:t>
            </a:r>
          </a:p>
          <a:p>
            <a:pPr algn="ctr" marL="0" indent="0" lvl="1">
              <a:lnSpc>
                <a:spcPts val="4112"/>
              </a:lnSpc>
              <a:spcBef>
                <a:spcPct val="0"/>
              </a:spcBef>
            </a:pPr>
            <a:r>
              <a:rPr lang="en-US" sz="3163">
                <a:solidFill>
                  <a:srgbClr val="FFFFFF"/>
                </a:solidFill>
                <a:latin typeface="Poppins"/>
                <a:ea typeface="Poppins"/>
                <a:cs typeface="Poppins"/>
                <a:sym typeface="Poppins"/>
              </a:rPr>
              <a:t>Di tengah gempuran ideologi asing, Pancasila harus menjadi landasan filosofi yang kokoh agar siswa cerdas secara akademik dan matang secara kepribadian.</a:t>
            </a:r>
          </a:p>
        </p:txBody>
      </p:sp>
      <p:sp>
        <p:nvSpPr>
          <p:cNvPr name="Freeform 6" id="6"/>
          <p:cNvSpPr/>
          <p:nvPr/>
        </p:nvSpPr>
        <p:spPr>
          <a:xfrm flipH="true" flipV="false" rot="0">
            <a:off x="12030317" y="-559050"/>
            <a:ext cx="6676155" cy="4022542"/>
          </a:xfrm>
          <a:custGeom>
            <a:avLst/>
            <a:gdLst/>
            <a:ahLst/>
            <a:cxnLst/>
            <a:rect r="r" b="b" t="t" l="l"/>
            <a:pathLst>
              <a:path h="4022542" w="6676155">
                <a:moveTo>
                  <a:pt x="6676155" y="0"/>
                </a:moveTo>
                <a:lnTo>
                  <a:pt x="0" y="0"/>
                </a:lnTo>
                <a:lnTo>
                  <a:pt x="0" y="4022542"/>
                </a:lnTo>
                <a:lnTo>
                  <a:pt x="6676155" y="4022542"/>
                </a:lnTo>
                <a:lnTo>
                  <a:pt x="6676155"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769434">
            <a:off x="-784883" y="9270250"/>
            <a:ext cx="7315200" cy="3981828"/>
          </a:xfrm>
          <a:custGeom>
            <a:avLst/>
            <a:gdLst/>
            <a:ahLst/>
            <a:cxnLst/>
            <a:rect r="r" b="b" t="t" l="l"/>
            <a:pathLst>
              <a:path h="3981828" w="7315200">
                <a:moveTo>
                  <a:pt x="0" y="0"/>
                </a:moveTo>
                <a:lnTo>
                  <a:pt x="7315200" y="0"/>
                </a:lnTo>
                <a:lnTo>
                  <a:pt x="7315200" y="3981828"/>
                </a:lnTo>
                <a:lnTo>
                  <a:pt x="0" y="3981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729482">
            <a:off x="11176386" y="8220064"/>
            <a:ext cx="7315200" cy="2819677"/>
          </a:xfrm>
          <a:custGeom>
            <a:avLst/>
            <a:gdLst/>
            <a:ahLst/>
            <a:cxnLst/>
            <a:rect r="r" b="b" t="t" l="l"/>
            <a:pathLst>
              <a:path h="2819677" w="7315200">
                <a:moveTo>
                  <a:pt x="0" y="0"/>
                </a:moveTo>
                <a:lnTo>
                  <a:pt x="7315200" y="0"/>
                </a:lnTo>
                <a:lnTo>
                  <a:pt x="7315200" y="2819678"/>
                </a:lnTo>
                <a:lnTo>
                  <a:pt x="0" y="28196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344875">
            <a:off x="13986062" y="4669765"/>
            <a:ext cx="2320028" cy="2900035"/>
          </a:xfrm>
          <a:custGeom>
            <a:avLst/>
            <a:gdLst/>
            <a:ahLst/>
            <a:cxnLst/>
            <a:rect r="r" b="b" t="t" l="l"/>
            <a:pathLst>
              <a:path h="2900035" w="2320028">
                <a:moveTo>
                  <a:pt x="0" y="0"/>
                </a:moveTo>
                <a:lnTo>
                  <a:pt x="2320028" y="0"/>
                </a:lnTo>
                <a:lnTo>
                  <a:pt x="2320028" y="2900034"/>
                </a:lnTo>
                <a:lnTo>
                  <a:pt x="0" y="290003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643014">
            <a:off x="13294450" y="4666761"/>
            <a:ext cx="3703254" cy="2847030"/>
          </a:xfrm>
          <a:custGeom>
            <a:avLst/>
            <a:gdLst/>
            <a:ahLst/>
            <a:cxnLst/>
            <a:rect r="r" b="b" t="t" l="l"/>
            <a:pathLst>
              <a:path h="2847030" w="3703254">
                <a:moveTo>
                  <a:pt x="0" y="0"/>
                </a:moveTo>
                <a:lnTo>
                  <a:pt x="3703253" y="0"/>
                </a:lnTo>
                <a:lnTo>
                  <a:pt x="3703253" y="2847031"/>
                </a:lnTo>
                <a:lnTo>
                  <a:pt x="0" y="284703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501790" y="2096707"/>
            <a:ext cx="11284420" cy="6093587"/>
          </a:xfrm>
          <a:custGeom>
            <a:avLst/>
            <a:gdLst/>
            <a:ahLst/>
            <a:cxnLst/>
            <a:rect r="r" b="b" t="t" l="l"/>
            <a:pathLst>
              <a:path h="6093587" w="11284420">
                <a:moveTo>
                  <a:pt x="0" y="0"/>
                </a:moveTo>
                <a:lnTo>
                  <a:pt x="11284420" y="0"/>
                </a:lnTo>
                <a:lnTo>
                  <a:pt x="11284420" y="6093586"/>
                </a:lnTo>
                <a:lnTo>
                  <a:pt x="0" y="6093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360078" y="3311035"/>
            <a:ext cx="7567844" cy="3936373"/>
          </a:xfrm>
          <a:prstGeom prst="rect">
            <a:avLst/>
          </a:prstGeom>
        </p:spPr>
        <p:txBody>
          <a:bodyPr anchor="t" rtlCol="false" tIns="0" lIns="0" bIns="0" rIns="0">
            <a:spAutoFit/>
          </a:bodyPr>
          <a:lstStyle/>
          <a:p>
            <a:pPr algn="ctr" marL="0" indent="0" lvl="0">
              <a:lnSpc>
                <a:spcPts val="15538"/>
              </a:lnSpc>
            </a:pPr>
            <a:r>
              <a:rPr lang="en-US" sz="12949" spc="220">
                <a:solidFill>
                  <a:srgbClr val="FFFFFF"/>
                </a:solidFill>
                <a:latin typeface="Fredoka"/>
                <a:ea typeface="Fredoka"/>
                <a:cs typeface="Fredoka"/>
                <a:sym typeface="Fredoka"/>
              </a:rPr>
              <a:t>Terima Kasih</a:t>
            </a:r>
          </a:p>
        </p:txBody>
      </p:sp>
      <p:sp>
        <p:nvSpPr>
          <p:cNvPr name="Freeform 5" id="5"/>
          <p:cNvSpPr/>
          <p:nvPr/>
        </p:nvSpPr>
        <p:spPr>
          <a:xfrm flipH="false" flipV="false" rot="0">
            <a:off x="-1193245" y="-1406796"/>
            <a:ext cx="8084317" cy="4870992"/>
          </a:xfrm>
          <a:custGeom>
            <a:avLst/>
            <a:gdLst/>
            <a:ahLst/>
            <a:cxnLst/>
            <a:rect r="r" b="b" t="t" l="l"/>
            <a:pathLst>
              <a:path h="4870992" w="8084317">
                <a:moveTo>
                  <a:pt x="0" y="0"/>
                </a:moveTo>
                <a:lnTo>
                  <a:pt x="8084317" y="0"/>
                </a:lnTo>
                <a:lnTo>
                  <a:pt x="8084317" y="4870992"/>
                </a:lnTo>
                <a:lnTo>
                  <a:pt x="0" y="48709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92418">
            <a:off x="12115815" y="6404164"/>
            <a:ext cx="9473939" cy="5708273"/>
          </a:xfrm>
          <a:custGeom>
            <a:avLst/>
            <a:gdLst/>
            <a:ahLst/>
            <a:cxnLst/>
            <a:rect r="r" b="b" t="t" l="l"/>
            <a:pathLst>
              <a:path h="5708273" w="9473939">
                <a:moveTo>
                  <a:pt x="0" y="0"/>
                </a:moveTo>
                <a:lnTo>
                  <a:pt x="9473940" y="0"/>
                </a:lnTo>
                <a:lnTo>
                  <a:pt x="9473940" y="5708272"/>
                </a:lnTo>
                <a:lnTo>
                  <a:pt x="0" y="57082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67302">
            <a:off x="13017515" y="966001"/>
            <a:ext cx="3291840" cy="4114800"/>
          </a:xfrm>
          <a:custGeom>
            <a:avLst/>
            <a:gdLst/>
            <a:ahLst/>
            <a:cxnLst/>
            <a:rect r="r" b="b" t="t" l="l"/>
            <a:pathLst>
              <a:path h="4114800" w="3291840">
                <a:moveTo>
                  <a:pt x="0" y="0"/>
                </a:moveTo>
                <a:lnTo>
                  <a:pt x="3291840" y="0"/>
                </a:lnTo>
                <a:lnTo>
                  <a:pt x="32918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867302">
            <a:off x="13476337" y="1280171"/>
            <a:ext cx="5320694" cy="3135232"/>
          </a:xfrm>
          <a:custGeom>
            <a:avLst/>
            <a:gdLst/>
            <a:ahLst/>
            <a:cxnLst/>
            <a:rect r="r" b="b" t="t" l="l"/>
            <a:pathLst>
              <a:path h="3135232" w="5320694">
                <a:moveTo>
                  <a:pt x="0" y="0"/>
                </a:moveTo>
                <a:lnTo>
                  <a:pt x="5320695" y="0"/>
                </a:lnTo>
                <a:lnTo>
                  <a:pt x="5320695" y="3135231"/>
                </a:lnTo>
                <a:lnTo>
                  <a:pt x="0" y="3135231"/>
                </a:lnTo>
                <a:lnTo>
                  <a:pt x="0" y="0"/>
                </a:lnTo>
                <a:close/>
              </a:path>
            </a:pathLst>
          </a:custGeom>
          <a:blipFill>
            <a:blip r:embed="rId9">
              <a:extLst>
                <a:ext uri="{96DAC541-7B7A-43D3-8B79-37D633B846F1}">
                  <asvg:svgBlip xmlns:asvg="http://schemas.microsoft.com/office/drawing/2016/SVG/main" r:embed="rId10"/>
                </a:ext>
              </a:extLst>
            </a:blip>
            <a:stretch>
              <a:fillRect l="0" t="0" r="0" b="-11005"/>
            </a:stretch>
          </a:blipFill>
        </p:spPr>
      </p:sp>
      <p:sp>
        <p:nvSpPr>
          <p:cNvPr name="Freeform 9" id="9"/>
          <p:cNvSpPr/>
          <p:nvPr/>
        </p:nvSpPr>
        <p:spPr>
          <a:xfrm flipH="false" flipV="false" rot="1030207">
            <a:off x="1747688" y="5360570"/>
            <a:ext cx="3336598" cy="4348783"/>
          </a:xfrm>
          <a:custGeom>
            <a:avLst/>
            <a:gdLst/>
            <a:ahLst/>
            <a:cxnLst/>
            <a:rect r="r" b="b" t="t" l="l"/>
            <a:pathLst>
              <a:path h="4348783" w="3336598">
                <a:moveTo>
                  <a:pt x="0" y="0"/>
                </a:moveTo>
                <a:lnTo>
                  <a:pt x="3336598" y="0"/>
                </a:lnTo>
                <a:lnTo>
                  <a:pt x="3336598" y="4348782"/>
                </a:lnTo>
                <a:lnTo>
                  <a:pt x="0" y="43487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1030207">
            <a:off x="1225393" y="5850850"/>
            <a:ext cx="4381189" cy="3368222"/>
          </a:xfrm>
          <a:custGeom>
            <a:avLst/>
            <a:gdLst/>
            <a:ahLst/>
            <a:cxnLst/>
            <a:rect r="r" b="b" t="t" l="l"/>
            <a:pathLst>
              <a:path h="3368222" w="4381189">
                <a:moveTo>
                  <a:pt x="0" y="0"/>
                </a:moveTo>
                <a:lnTo>
                  <a:pt x="4381189" y="0"/>
                </a:lnTo>
                <a:lnTo>
                  <a:pt x="4381189" y="3368222"/>
                </a:lnTo>
                <a:lnTo>
                  <a:pt x="0" y="33682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DAG55YUCCi8</dc:identifier>
  <dcterms:modified xsi:type="dcterms:W3CDTF">2011-08-01T06:04:30Z</dcterms:modified>
  <cp:revision>1</cp:revision>
  <dc:title>Mengetahui Nilai Pancasila Presentasi dalam Biru Hijau Ilustrasi</dc:title>
</cp:coreProperties>
</file>