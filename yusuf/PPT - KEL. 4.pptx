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Lato" charset="1" panose="020F0502020204030203"/>
      <p:regular r:id="rId14"/>
    </p:embeddedFont>
    <p:embeddedFont>
      <p:font typeface="Poppins Bold" charset="1" panose="00000800000000000000"/>
      <p:regular r:id="rId15"/>
    </p:embeddedFont>
    <p:embeddedFont>
      <p:font typeface="Lato Bold" charset="1" panose="020F0502020204030203"/>
      <p:regular r:id="rId17"/>
    </p:embeddedFont>
    <p:embeddedFont>
      <p:font typeface="Times New Roman Bold" charset="1" panose="02020803070505020304"/>
      <p:regular r:id="rId19"/>
    </p:embeddedFont>
    <p:embeddedFont>
      <p:font typeface="Lato Italics" charset="1" panose="020F05020202040302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notesMasters/notesMaster1.xml" Type="http://schemas.openxmlformats.org/officeDocument/2006/relationships/notesMaster"/><Relationship Id="rId12" Target="theme/theme2.xml" Type="http://schemas.openxmlformats.org/officeDocument/2006/relationships/theme"/><Relationship Id="rId13" Target="notesSlides/notesSlide1.xml" Type="http://schemas.openxmlformats.org/officeDocument/2006/relationships/notes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Slides/notesSlide2.xml" Type="http://schemas.openxmlformats.org/officeDocument/2006/relationships/notesSlide"/><Relationship Id="rId17" Target="fonts/font17.fntdata" Type="http://schemas.openxmlformats.org/officeDocument/2006/relationships/font"/><Relationship Id="rId18" Target="notesSlides/notesSlide3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00162" y="3627462"/>
            <a:ext cx="57150" cy="500062"/>
            <a:chOff x="0" y="0"/>
            <a:chExt cx="76200" cy="666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D4A37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443038" y="4332312"/>
            <a:ext cx="142875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2912" y="3245644"/>
            <a:ext cx="17402175" cy="160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2"/>
              </a:lnSpc>
            </a:pPr>
            <a:r>
              <a:rPr lang="en-US" b="true" sz="4725">
                <a:solidFill>
                  <a:srgbClr val="1B4332"/>
                </a:solidFill>
                <a:latin typeface="Poppins Bold"/>
                <a:ea typeface="Poppins Bold"/>
                <a:cs typeface="Poppins Bold"/>
                <a:sym typeface="Poppins Bold"/>
              </a:rPr>
              <a:t>ANALISA BERPANCASILA DALAM PELESTARIAN LINGKUNGAN HIDUP DI INDONESIA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14625" y="6865544"/>
            <a:ext cx="12858750" cy="2392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3600">
                <a:solidFill>
                  <a:srgbClr val="52796F"/>
                </a:solidFill>
                <a:latin typeface="Lato"/>
                <a:ea typeface="Lato"/>
                <a:cs typeface="Lato"/>
                <a:sym typeface="Lato"/>
              </a:rPr>
              <a:t>Kelompok 4: Ahmad Yusuf, Friska Maya Safana, Aslam Fajri Ismahelmi, Cindy Frisca Agnesia, Ervica Ayudia Rahma, Wachi Datul Udchiyah, Erviana Rahmadhani, Adib Maulana Azkiya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857250" y="3184550"/>
            <a:ext cx="7929562" cy="6872286"/>
            <a:chOff x="0" y="0"/>
            <a:chExt cx="10572750" cy="9163048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72750" cy="9163050"/>
            </a:xfrm>
            <a:custGeom>
              <a:avLst/>
              <a:gdLst/>
              <a:ahLst/>
              <a:cxnLst/>
              <a:rect r="r" b="b" t="t" l="l"/>
              <a:pathLst>
                <a:path h="916305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9163050"/>
                  </a:lnTo>
                  <a:lnTo>
                    <a:pt x="0" y="9163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07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9501188" y="3184550"/>
            <a:ext cx="7929562" cy="6872288"/>
            <a:chOff x="0" y="0"/>
            <a:chExt cx="10572750" cy="91630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572750" cy="9163050"/>
            </a:xfrm>
            <a:custGeom>
              <a:avLst/>
              <a:gdLst/>
              <a:ahLst/>
              <a:cxnLst/>
              <a:rect r="r" b="b" t="t" l="l"/>
              <a:pathLst>
                <a:path h="916305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9163050"/>
                  </a:lnTo>
                  <a:lnTo>
                    <a:pt x="0" y="9163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0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14475" y="3598887"/>
            <a:ext cx="7170896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2D6A4F"/>
                </a:solidFill>
                <a:latin typeface="Poppins Bold"/>
                <a:ea typeface="Poppins Bold"/>
                <a:cs typeface="Poppins Bold"/>
                <a:sym typeface="Poppins Bold"/>
              </a:rPr>
              <a:t>Latar Belakang Masalah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00162" y="3627462"/>
            <a:ext cx="57150" cy="500062"/>
            <a:chOff x="0" y="0"/>
            <a:chExt cx="76200" cy="6667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D4A37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0158412" y="3598887"/>
            <a:ext cx="7170896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2D6A4F"/>
                </a:solidFill>
                <a:latin typeface="Poppins Bold"/>
                <a:ea typeface="Poppins Bold"/>
                <a:cs typeface="Poppins Bold"/>
                <a:sym typeface="Poppins Bold"/>
              </a:rPr>
              <a:t>Rumusan Masalah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44100" y="3627462"/>
            <a:ext cx="57150" cy="500062"/>
            <a:chOff x="0" y="0"/>
            <a:chExt cx="76200" cy="6667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D4A37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443038" y="4332312"/>
            <a:ext cx="142875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81162" y="4218012"/>
            <a:ext cx="6662738" cy="1281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b="true" sz="2025">
                <a:solidFill>
                  <a:srgbClr val="2D4C42"/>
                </a:solidFill>
                <a:latin typeface="Lato Bold"/>
                <a:ea typeface="Lato Bold"/>
                <a:cs typeface="Lato Bold"/>
                <a:sym typeface="Lato Bold"/>
              </a:rPr>
              <a:t>Krisis Ekologis:</a:t>
            </a: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 Indonesia menghadapi banjir, kebakaran hutan, dan perubahan iklim akibat kerusakan ekosistem dan eksploitasi SDA berlebihan.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3038" y="5632475"/>
            <a:ext cx="142875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81162" y="5518156"/>
            <a:ext cx="6948600" cy="9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b="true" sz="2025">
                <a:solidFill>
                  <a:srgbClr val="2D4C42"/>
                </a:solidFill>
                <a:latin typeface="Lato Bold"/>
                <a:ea typeface="Lato Bold"/>
                <a:cs typeface="Lato Bold"/>
                <a:sym typeface="Lato Bold"/>
              </a:rPr>
              <a:t>Paradigma Baru:</a:t>
            </a: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 Pengelolaan lingkungan harus berlandaskan etika moral (Pancasila), bukan hanya orientasi ekonomi.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43038" y="6546875"/>
            <a:ext cx="142875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55377" y="6507582"/>
            <a:ext cx="6784350" cy="137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b="true" sz="2025">
                <a:solidFill>
                  <a:srgbClr val="2D4C42"/>
                </a:solidFill>
                <a:latin typeface="Lato Bold"/>
                <a:ea typeface="Lato Bold"/>
                <a:cs typeface="Lato Bold"/>
                <a:sym typeface="Lato Bold"/>
              </a:rPr>
              <a:t>Peran Pancasila:</a:t>
            </a: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 Sila 1-5 menjadi pedoman kesadaran ekologis (menjaga ciptaan Tuhan, hak lingkungan sehat, persatuan, musyawarah, dan keadilan sosial).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43038" y="7847037"/>
            <a:ext cx="142875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25638" y="7964562"/>
            <a:ext cx="6662850" cy="9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b="true" sz="2025">
                <a:solidFill>
                  <a:srgbClr val="2D4C42"/>
                </a:solidFill>
                <a:latin typeface="Lato Bold"/>
                <a:ea typeface="Lato Bold"/>
                <a:cs typeface="Lato Bold"/>
                <a:sym typeface="Lato Bold"/>
              </a:rPr>
              <a:t>Urgensi:</a:t>
            </a: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 Mencegah kebijakan menjadi formalitas semata dan mengatasi dilema ekonomi vs ekologi.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15575" y="4346599"/>
            <a:ext cx="200025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1.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48950" y="4232299"/>
            <a:ext cx="6338888" cy="1281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Bagaimana </a:t>
            </a:r>
            <a:r>
              <a:rPr lang="en-US" b="true" sz="2025">
                <a:solidFill>
                  <a:srgbClr val="2D4C42"/>
                </a:solidFill>
                <a:latin typeface="Lato Bold"/>
                <a:ea typeface="Lato Bold"/>
                <a:cs typeface="Lato Bold"/>
                <a:sym typeface="Lato Bold"/>
              </a:rPr>
              <a:t>efektivitas implementasi</a:t>
            </a: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 nilai-nilai Pancasila dalam kebijakan pelestarian lingkungan hidup di Indonesia?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15575" y="5646762"/>
            <a:ext cx="200025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2.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648950" y="5532462"/>
            <a:ext cx="6338888" cy="1281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Apa </a:t>
            </a:r>
            <a:r>
              <a:rPr lang="en-US" b="true" sz="2025">
                <a:solidFill>
                  <a:srgbClr val="2D4C42"/>
                </a:solidFill>
                <a:latin typeface="Lato Bold"/>
                <a:ea typeface="Lato Bold"/>
                <a:cs typeface="Lato Bold"/>
                <a:sym typeface="Lato Bold"/>
              </a:rPr>
              <a:t>tantangan dan solusi strategis</a:t>
            </a: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 untuk menjadikan Pancasila sebagai etika moral dalam mengatasi isu lingkungan mendesak di Indonesia?</a:t>
            </a:r>
          </a:p>
        </p:txBody>
      </p: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9944100" y="7327925"/>
            <a:ext cx="7043738" cy="3571875"/>
            <a:chOff x="0" y="0"/>
            <a:chExt cx="9391650" cy="47625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9391650" cy="4762500"/>
            </a:xfrm>
            <a:custGeom>
              <a:avLst/>
              <a:gdLst/>
              <a:ahLst/>
              <a:cxnLst/>
              <a:rect r="r" b="b" t="t" l="l"/>
              <a:pathLst>
                <a:path h="4762500" w="9391650">
                  <a:moveTo>
                    <a:pt x="0" y="0"/>
                  </a:moveTo>
                  <a:lnTo>
                    <a:pt x="9391650" y="0"/>
                  </a:lnTo>
                  <a:lnTo>
                    <a:pt x="9391650" y="4762500"/>
                  </a:lnTo>
                  <a:lnTo>
                    <a:pt x="0" y="476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5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9501188" y="6215062"/>
            <a:ext cx="7929562" cy="942975"/>
            <a:chOff x="0" y="0"/>
            <a:chExt cx="10572750" cy="12573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72750" cy="1257300"/>
            </a:xfrm>
            <a:custGeom>
              <a:avLst/>
              <a:gdLst/>
              <a:ahLst/>
              <a:cxnLst/>
              <a:rect r="r" b="b" t="t" l="l"/>
              <a:pathLst>
                <a:path h="12573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1257300"/>
                  </a:lnTo>
                  <a:lnTo>
                    <a:pt x="0" y="1257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14712" y="6346725"/>
            <a:ext cx="1692900" cy="29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Analisis Umum: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857250" y="4243388"/>
            <a:ext cx="285750" cy="257175"/>
            <a:chOff x="0" y="0"/>
            <a:chExt cx="381000" cy="34290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381000" cy="342900"/>
            </a:xfrm>
            <a:custGeom>
              <a:avLst/>
              <a:gdLst/>
              <a:ahLst/>
              <a:cxnLst/>
              <a:rect r="r" b="b" t="t" l="l"/>
              <a:pathLst>
                <a:path h="3429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85875" y="4048125"/>
            <a:ext cx="7500938" cy="1281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b="true" sz="2025">
                <a:solidFill>
                  <a:srgbClr val="2D4C42"/>
                </a:solidFill>
                <a:latin typeface="Lato Bold"/>
                <a:ea typeface="Lato Bold"/>
                <a:cs typeface="Lato Bold"/>
                <a:sym typeface="Lato Bold"/>
              </a:rPr>
              <a:t>Sila 1 (Ketuhanan):</a:t>
            </a: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 Kewajiban menjaga alam sebagai ciptaan Tuhan (misal: Taman Nasional). </a:t>
            </a:r>
            <a:r>
              <a:rPr lang="en-US" sz="2025" i="true">
                <a:solidFill>
                  <a:srgbClr val="2D4C42"/>
                </a:solidFill>
                <a:latin typeface="Lato Italics"/>
                <a:ea typeface="Lato Italics"/>
                <a:cs typeface="Lato Italics"/>
                <a:sym typeface="Lato Italics"/>
              </a:rPr>
              <a:t>Efektivitas terbatas</a:t>
            </a: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 karena deforestasi mengabaikan nilai religius.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857250" y="5614988"/>
            <a:ext cx="328612" cy="257175"/>
            <a:chOff x="0" y="0"/>
            <a:chExt cx="438150" cy="3429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438150" cy="342900"/>
            </a:xfrm>
            <a:custGeom>
              <a:avLst/>
              <a:gdLst/>
              <a:ahLst/>
              <a:cxnLst/>
              <a:rect r="r" b="b" t="t" l="l"/>
              <a:pathLst>
                <a:path h="34290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28738" y="5419725"/>
            <a:ext cx="7458075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b="true" sz="2025">
                <a:solidFill>
                  <a:srgbClr val="2D4C42"/>
                </a:solidFill>
                <a:latin typeface="Lato Bold"/>
                <a:ea typeface="Lato Bold"/>
                <a:cs typeface="Lato Bold"/>
                <a:sym typeface="Lato Bold"/>
              </a:rPr>
              <a:t>Sila 2 (Kemanusiaan):</a:t>
            </a: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 Hak atas lingkungan sehat. </a:t>
            </a:r>
            <a:r>
              <a:rPr lang="en-US" sz="2025" i="true">
                <a:solidFill>
                  <a:srgbClr val="2D4C42"/>
                </a:solidFill>
                <a:latin typeface="Lato Italics"/>
                <a:ea typeface="Lato Italics"/>
                <a:cs typeface="Lato Italics"/>
                <a:sym typeface="Lato Italics"/>
              </a:rPr>
              <a:t>Belum tercapai</a:t>
            </a: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 karena masyarakat sekitar industri masih terdampak polusi limbah.</a:t>
            </a:r>
          </a:p>
        </p:txBody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857250" y="6600825"/>
            <a:ext cx="328612" cy="257175"/>
            <a:chOff x="0" y="0"/>
            <a:chExt cx="438150" cy="34290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438150" cy="342900"/>
            </a:xfrm>
            <a:custGeom>
              <a:avLst/>
              <a:gdLst/>
              <a:ahLst/>
              <a:cxnLst/>
              <a:rect r="r" b="b" t="t" l="l"/>
              <a:pathLst>
                <a:path h="34290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28738" y="6405563"/>
            <a:ext cx="7458075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b="true" sz="2025">
                <a:solidFill>
                  <a:srgbClr val="2D4C42"/>
                </a:solidFill>
                <a:latin typeface="Lato Bold"/>
                <a:ea typeface="Lato Bold"/>
                <a:cs typeface="Lato Bold"/>
                <a:sym typeface="Lato Bold"/>
              </a:rPr>
              <a:t>Sila 3 (Persatuan):</a:t>
            </a: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 Gerakan Indonesia Bersih &amp; Adiwiyata. </a:t>
            </a:r>
            <a:r>
              <a:rPr lang="en-US" sz="2025" i="true">
                <a:solidFill>
                  <a:srgbClr val="2D4C42"/>
                </a:solidFill>
                <a:latin typeface="Lato Italics"/>
                <a:ea typeface="Lato Italics"/>
                <a:cs typeface="Lato Italics"/>
                <a:sym typeface="Lato Italics"/>
              </a:rPr>
              <a:t>Terbatas</a:t>
            </a: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 karena partisipasi seringkali hanya bersifat seremonial.</a:t>
            </a:r>
          </a:p>
        </p:txBody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9501188" y="4243388"/>
            <a:ext cx="328612" cy="257175"/>
            <a:chOff x="0" y="0"/>
            <a:chExt cx="438150" cy="3429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438150" cy="342900"/>
            </a:xfrm>
            <a:custGeom>
              <a:avLst/>
              <a:gdLst/>
              <a:ahLst/>
              <a:cxnLst/>
              <a:rect r="r" b="b" t="t" l="l"/>
              <a:pathLst>
                <a:path h="34290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972675" y="4048125"/>
            <a:ext cx="7458075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b="true" sz="2025">
                <a:solidFill>
                  <a:srgbClr val="2D4C42"/>
                </a:solidFill>
                <a:latin typeface="Lato Bold"/>
                <a:ea typeface="Lato Bold"/>
                <a:cs typeface="Lato Bold"/>
                <a:sym typeface="Lato Bold"/>
              </a:rPr>
              <a:t>Sila 4 (Kerakyatan):</a:t>
            </a: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 Partisipasi publik dalam keputusan (AMDAL). </a:t>
            </a:r>
            <a:r>
              <a:rPr lang="en-US" sz="2025" i="true">
                <a:solidFill>
                  <a:srgbClr val="2D4C42"/>
                </a:solidFill>
                <a:latin typeface="Lato Italics"/>
                <a:ea typeface="Lato Italics"/>
                <a:cs typeface="Lato Italics"/>
                <a:sym typeface="Lato Italics"/>
              </a:rPr>
              <a:t>Lemah</a:t>
            </a: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, proyek besar sering tanpa pelibatan warga, memicu konflik.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9501188" y="5229225"/>
            <a:ext cx="328612" cy="257175"/>
            <a:chOff x="0" y="0"/>
            <a:chExt cx="438150" cy="3429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438150" cy="342900"/>
            </a:xfrm>
            <a:custGeom>
              <a:avLst/>
              <a:gdLst/>
              <a:ahLst/>
              <a:cxnLst/>
              <a:rect r="r" b="b" t="t" l="l"/>
              <a:pathLst>
                <a:path h="34290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972675" y="5033963"/>
            <a:ext cx="7458075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b="true" sz="2025">
                <a:solidFill>
                  <a:srgbClr val="2D4C42"/>
                </a:solidFill>
                <a:latin typeface="Lato Bold"/>
                <a:ea typeface="Lato Bold"/>
                <a:cs typeface="Lato Bold"/>
                <a:sym typeface="Lato Bold"/>
              </a:rPr>
              <a:t>Sila 5 (Keadilan):</a:t>
            </a: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 Distribusi manfaat SDA. </a:t>
            </a:r>
            <a:r>
              <a:rPr lang="en-US" sz="2025" i="true">
                <a:solidFill>
                  <a:srgbClr val="2D4C42"/>
                </a:solidFill>
                <a:latin typeface="Lato Italics"/>
                <a:ea typeface="Lato Italics"/>
                <a:cs typeface="Lato Italics"/>
                <a:sym typeface="Lato Italics"/>
              </a:rPr>
              <a:t>Belum adil</a:t>
            </a: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, konflik agraria dan kerugian masyarakat adat masih marak.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57250" y="2733675"/>
            <a:ext cx="17402175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1B4332"/>
                </a:solidFill>
                <a:latin typeface="Poppins Bold"/>
                <a:ea typeface="Poppins Bold"/>
                <a:cs typeface="Poppins Bold"/>
                <a:sym typeface="Poppins Bold"/>
              </a:rPr>
              <a:t>Efektivitas Implementasi Nilai Pancasila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57250" y="3700462"/>
            <a:ext cx="16573500" cy="42862"/>
            <a:chOff x="0" y="0"/>
            <a:chExt cx="22098000" cy="571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098000" cy="57150"/>
            </a:xfrm>
            <a:custGeom>
              <a:avLst/>
              <a:gdLst/>
              <a:ahLst/>
              <a:cxnLst/>
              <a:rect r="r" b="b" t="t" l="l"/>
              <a:pathLst>
                <a:path h="571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D4A373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857250" y="2357438"/>
            <a:ext cx="7929562" cy="6972300"/>
            <a:chOff x="0" y="0"/>
            <a:chExt cx="10572750" cy="92964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72750" cy="9296400"/>
            </a:xfrm>
            <a:custGeom>
              <a:avLst/>
              <a:gdLst/>
              <a:ahLst/>
              <a:cxnLst/>
              <a:rect r="r" b="b" t="t" l="l"/>
              <a:pathLst>
                <a:path h="92964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9296400"/>
                  </a:lnTo>
                  <a:lnTo>
                    <a:pt x="0" y="929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9501188" y="2357438"/>
            <a:ext cx="7929562" cy="6972300"/>
            <a:chOff x="0" y="0"/>
            <a:chExt cx="10572750" cy="92964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572750" cy="9296400"/>
            </a:xfrm>
            <a:custGeom>
              <a:avLst/>
              <a:gdLst/>
              <a:ahLst/>
              <a:cxnLst/>
              <a:rect r="r" b="b" t="t" l="l"/>
              <a:pathLst>
                <a:path h="92964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9296400"/>
                  </a:lnTo>
                  <a:lnTo>
                    <a:pt x="0" y="929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14475" y="2771775"/>
            <a:ext cx="7170896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2D6A4F"/>
                </a:solidFill>
                <a:latin typeface="Poppins Bold"/>
                <a:ea typeface="Poppins Bold"/>
                <a:cs typeface="Poppins Bold"/>
                <a:sym typeface="Poppins Bold"/>
              </a:rPr>
              <a:t>Tantangan Utama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00162" y="2800350"/>
            <a:ext cx="57150" cy="500062"/>
            <a:chOff x="0" y="0"/>
            <a:chExt cx="76200" cy="6667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D4A37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0158412" y="2771775"/>
            <a:ext cx="7170896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2D6A4F"/>
                </a:solidFill>
                <a:latin typeface="Poppins Bold"/>
                <a:ea typeface="Poppins Bold"/>
                <a:cs typeface="Poppins Bold"/>
                <a:sym typeface="Poppins Bold"/>
              </a:rPr>
              <a:t>Solusi Strategis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44100" y="2800350"/>
            <a:ext cx="57150" cy="500062"/>
            <a:chOff x="0" y="0"/>
            <a:chExt cx="76200" cy="6667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D4A37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443038" y="3505200"/>
            <a:ext cx="142875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81162" y="3390900"/>
            <a:ext cx="6662738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b="true" sz="2025">
                <a:solidFill>
                  <a:srgbClr val="2D4C42"/>
                </a:solidFill>
                <a:latin typeface="Lato Bold"/>
                <a:ea typeface="Lato Bold"/>
                <a:cs typeface="Lato Bold"/>
                <a:sym typeface="Lato Bold"/>
              </a:rPr>
              <a:t>Minim Internalisasi:</a:t>
            </a: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 Nilai Pancasila belum merasuk dalam birokrasi; kebijakan hanya formalitas.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3038" y="4419600"/>
            <a:ext cx="142875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81162" y="4305300"/>
            <a:ext cx="6662738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b="true" sz="2025">
                <a:solidFill>
                  <a:srgbClr val="2D4C42"/>
                </a:solidFill>
                <a:latin typeface="Lato Bold"/>
                <a:ea typeface="Lato Bold"/>
                <a:cs typeface="Lato Bold"/>
                <a:sym typeface="Lato Bold"/>
              </a:rPr>
              <a:t>Dominasi Ekonomi:</a:t>
            </a: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 Kepentingan ekonomi (tambang, sawit) sering mengalahkan keadilan sosial &amp; ekologi.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43038" y="5334000"/>
            <a:ext cx="142875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81162" y="5219700"/>
            <a:ext cx="6662738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b="true" sz="2025">
                <a:solidFill>
                  <a:srgbClr val="2D4C42"/>
                </a:solidFill>
                <a:latin typeface="Lato Bold"/>
                <a:ea typeface="Lato Bold"/>
                <a:cs typeface="Lato Bold"/>
                <a:sym typeface="Lato Bold"/>
              </a:rPr>
              <a:t>Partisipasi Rendah:</a:t>
            </a: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 Masyarakat jarang dilibatkan dalam keputusan proyek besar (Sila 4 terabaikan).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43038" y="6248400"/>
            <a:ext cx="142875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81162" y="6134100"/>
            <a:ext cx="6662738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b="true" sz="2025">
                <a:solidFill>
                  <a:srgbClr val="2D4C42"/>
                </a:solidFill>
                <a:latin typeface="Lato Bold"/>
                <a:ea typeface="Lato Bold"/>
                <a:cs typeface="Lato Bold"/>
                <a:sym typeface="Lato Bold"/>
              </a:rPr>
              <a:t>Lemah Penegakan Hukum:</a:t>
            </a: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 Kasus pencemaran &amp; pelanggaran hak sering lolos karena intervensi politik.</a:t>
            </a:r>
          </a:p>
        </p:txBody>
      </p: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0215562" y="2871788"/>
            <a:ext cx="257175" cy="342900"/>
            <a:chOff x="0" y="0"/>
            <a:chExt cx="342900" cy="4572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342900" cy="457200"/>
            </a:xfrm>
            <a:custGeom>
              <a:avLst/>
              <a:gdLst/>
              <a:ahLst/>
              <a:cxnLst/>
              <a:rect r="r" b="b" t="t" l="l"/>
              <a:pathLst>
                <a:path h="4572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14089" t="0" r="214089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086975" y="3505200"/>
            <a:ext cx="142875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325100" y="3390900"/>
            <a:ext cx="6662738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b="true" sz="2025">
                <a:solidFill>
                  <a:srgbClr val="2D4C42"/>
                </a:solidFill>
                <a:latin typeface="Lato Bold"/>
                <a:ea typeface="Lato Bold"/>
                <a:cs typeface="Lato Bold"/>
                <a:sym typeface="Lato Bold"/>
              </a:rPr>
              <a:t>Pendidikan Kontekstual:</a:t>
            </a: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 Integrasi isu lingkungan dalam pendidikan Pancasila (Program Adiwiyata).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86975" y="4419600"/>
            <a:ext cx="142875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325100" y="4305300"/>
            <a:ext cx="6662738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b="true" sz="2025">
                <a:solidFill>
                  <a:srgbClr val="2D4C42"/>
                </a:solidFill>
                <a:latin typeface="Lato Bold"/>
                <a:ea typeface="Lato Bold"/>
                <a:cs typeface="Lato Bold"/>
                <a:sym typeface="Lato Bold"/>
              </a:rPr>
              <a:t>Reformasi Kebijakan:</a:t>
            </a: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 Regulasi harus berbasis etika lingkungan &amp; keadilan sosial.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86975" y="5334000"/>
            <a:ext cx="142875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325100" y="5219700"/>
            <a:ext cx="6662738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b="true" sz="2025">
                <a:solidFill>
                  <a:srgbClr val="2D4C42"/>
                </a:solidFill>
                <a:latin typeface="Lato Bold"/>
                <a:ea typeface="Lato Bold"/>
                <a:cs typeface="Lato Bold"/>
                <a:sym typeface="Lato Bold"/>
              </a:rPr>
              <a:t>Partisipasi Publik:</a:t>
            </a: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 Membuka ruang musyawarah nyata dalam setiap kebijakan lingkungan.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086975" y="6248400"/>
            <a:ext cx="142875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325100" y="6134100"/>
            <a:ext cx="6662738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b="true" sz="2025">
                <a:solidFill>
                  <a:srgbClr val="2D4C42"/>
                </a:solidFill>
                <a:latin typeface="Lato Bold"/>
                <a:ea typeface="Lato Bold"/>
                <a:cs typeface="Lato Bold"/>
                <a:sym typeface="Lato Bold"/>
              </a:rPr>
              <a:t>Penguatan Hukum:</a:t>
            </a: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 Lembaga hukum independen dan tegas terhadap perusak lingkungan.</a:t>
            </a:r>
          </a:p>
        </p:txBody>
      </p:sp>
      <p:grpSp>
        <p:nvGrpSpPr>
          <p:cNvPr name="Group 32" id="32"/>
          <p:cNvGrpSpPr>
            <a:grpSpLocks noChangeAspect="true"/>
          </p:cNvGrpSpPr>
          <p:nvPr/>
        </p:nvGrpSpPr>
        <p:grpSpPr>
          <a:xfrm rot="0">
            <a:off x="9944100" y="7458075"/>
            <a:ext cx="4177530" cy="257175"/>
            <a:chOff x="0" y="0"/>
            <a:chExt cx="5570040" cy="3429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5570093" cy="342900"/>
            </a:xfrm>
            <a:custGeom>
              <a:avLst/>
              <a:gdLst/>
              <a:ahLst/>
              <a:cxnLst/>
              <a:rect r="r" b="b" t="t" l="l"/>
              <a:pathLst>
                <a:path h="342900" w="5570093">
                  <a:moveTo>
                    <a:pt x="0" y="0"/>
                  </a:moveTo>
                  <a:lnTo>
                    <a:pt x="5570093" y="0"/>
                  </a:lnTo>
                  <a:lnTo>
                    <a:pt x="5570093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207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857250" y="919162"/>
            <a:ext cx="17402175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1B4332"/>
                </a:solidFill>
                <a:latin typeface="Poppins Bold"/>
                <a:ea typeface="Poppins Bold"/>
                <a:cs typeface="Poppins Bold"/>
                <a:sym typeface="Poppins Bold"/>
              </a:rPr>
              <a:t>Tantangan &amp; Solusi Strategis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57250" y="1885950"/>
            <a:ext cx="16573500" cy="42862"/>
            <a:chOff x="0" y="0"/>
            <a:chExt cx="22098000" cy="571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098000" cy="57150"/>
            </a:xfrm>
            <a:custGeom>
              <a:avLst/>
              <a:gdLst/>
              <a:ahLst/>
              <a:cxnLst/>
              <a:rect r="r" b="b" t="t" l="l"/>
              <a:pathLst>
                <a:path h="571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D4A373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1562" y="1871663"/>
            <a:ext cx="8101012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2D6A4F"/>
                </a:solidFill>
                <a:latin typeface="Poppins Bold"/>
                <a:ea typeface="Poppins Bold"/>
                <a:cs typeface="Poppins Bold"/>
                <a:sym typeface="Poppins Bold"/>
              </a:rPr>
              <a:t>Kesimpulan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57250" y="1900238"/>
            <a:ext cx="57150" cy="500062"/>
            <a:chOff x="0" y="0"/>
            <a:chExt cx="76200" cy="6667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D4A37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857250" y="2533650"/>
            <a:ext cx="7929562" cy="1281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Implementasi Pancasila dalam pelestarian lingkungan secara regulasi sudah ada (UU No. 32/2009, Adiwiyata), namun secara praktik masih </a:t>
            </a:r>
            <a:r>
              <a:rPr lang="en-US" b="true" sz="2025">
                <a:solidFill>
                  <a:srgbClr val="2D4C42"/>
                </a:solidFill>
                <a:latin typeface="Lato Bold"/>
                <a:ea typeface="Lato Bold"/>
                <a:cs typeface="Lato Bold"/>
                <a:sym typeface="Lato Bold"/>
              </a:rPr>
              <a:t>parsial dan inkonsisten</a:t>
            </a: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250" y="3948113"/>
            <a:ext cx="7929562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Hambatan utama adalah dominasi kepentingan ekonomi dan lemahnya penegakan hukum. Solusi kuncinya adalah </a:t>
            </a:r>
            <a:r>
              <a:rPr lang="en-US" b="true" sz="2025">
                <a:solidFill>
                  <a:srgbClr val="2D4C42"/>
                </a:solidFill>
                <a:latin typeface="Lato Bold"/>
                <a:ea typeface="Lato Bold"/>
                <a:cs typeface="Lato Bold"/>
                <a:sym typeface="Lato Bold"/>
              </a:rPr>
              <a:t>internalisasi nilai moral Pancasila</a:t>
            </a:r>
            <a:r>
              <a:rPr lang="en-US" sz="202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 dalam setiap kebijakan, pendidikan yang aplikatif, serta penegakan hukum yang berkeadilan tanpa pandang bulu.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15500" y="1871663"/>
            <a:ext cx="8101012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2D6A4F"/>
                </a:solidFill>
                <a:latin typeface="Poppins Bold"/>
                <a:ea typeface="Poppins Bold"/>
                <a:cs typeface="Poppins Bold"/>
                <a:sym typeface="Poppins Bold"/>
              </a:rPr>
              <a:t>Daftar Pustaka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01188" y="1900238"/>
            <a:ext cx="57150" cy="500062"/>
            <a:chOff x="0" y="0"/>
            <a:chExt cx="76200" cy="6667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D4A37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857250" y="6157912"/>
            <a:ext cx="7929562" cy="3571875"/>
            <a:chOff x="0" y="0"/>
            <a:chExt cx="10572750" cy="47625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572750" cy="4762500"/>
            </a:xfrm>
            <a:custGeom>
              <a:avLst/>
              <a:gdLst/>
              <a:ahLst/>
              <a:cxnLst/>
              <a:rect r="r" b="b" t="t" l="l"/>
              <a:pathLst>
                <a:path h="47625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4762500"/>
                  </a:lnTo>
                  <a:lnTo>
                    <a:pt x="0" y="476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501188" y="3286125"/>
            <a:ext cx="7929562" cy="14288"/>
            <a:chOff x="0" y="0"/>
            <a:chExt cx="10572750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72750" cy="19050"/>
            </a:xfrm>
            <a:custGeom>
              <a:avLst/>
              <a:gdLst/>
              <a:ahLst/>
              <a:cxnLst/>
              <a:rect r="r" b="b" t="t" l="l"/>
              <a:pathLst>
                <a:path h="1905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CCCC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634538" y="3376612"/>
            <a:ext cx="7796100" cy="70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1575">
                <a:solidFill>
                  <a:srgbClr val="2D4C42"/>
                </a:solidFill>
                <a:latin typeface="Lato"/>
                <a:ea typeface="Lato"/>
                <a:cs typeface="Lato"/>
                <a:sym typeface="Lato"/>
              </a:rPr>
              <a:t>https://docs.google.com/spreadsheets/d/1JrCFqdSI70luZKtdkXX3E6H6WBBpZ8g0/edit?usp=sharing&amp;ouid=102979766262363748853&amp;rtpof=true&amp;sd=true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501188" y="4443412"/>
            <a:ext cx="7929562" cy="14288"/>
            <a:chOff x="0" y="0"/>
            <a:chExt cx="10572750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72750" cy="19050"/>
            </a:xfrm>
            <a:custGeom>
              <a:avLst/>
              <a:gdLst/>
              <a:ahLst/>
              <a:cxnLst/>
              <a:rect r="r" b="b" t="t" l="l"/>
              <a:pathLst>
                <a:path h="1905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CCCC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501188" y="5857875"/>
            <a:ext cx="7929562" cy="14288"/>
            <a:chOff x="0" y="0"/>
            <a:chExt cx="10572750" cy="19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572750" cy="19050"/>
            </a:xfrm>
            <a:custGeom>
              <a:avLst/>
              <a:gdLst/>
              <a:ahLst/>
              <a:cxnLst/>
              <a:rect r="r" b="b" t="t" l="l"/>
              <a:pathLst>
                <a:path h="1905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CCCC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501188" y="3286125"/>
            <a:ext cx="7929562" cy="14288"/>
            <a:chOff x="0" y="0"/>
            <a:chExt cx="10572750" cy="19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72750" cy="19050"/>
            </a:xfrm>
            <a:custGeom>
              <a:avLst/>
              <a:gdLst/>
              <a:ahLst/>
              <a:cxnLst/>
              <a:rect r="r" b="b" t="t" l="l"/>
              <a:pathLst>
                <a:path h="1905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CCCC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501188" y="4443412"/>
            <a:ext cx="7929562" cy="14288"/>
            <a:chOff x="0" y="0"/>
            <a:chExt cx="10572750" cy="19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72750" cy="19050"/>
            </a:xfrm>
            <a:custGeom>
              <a:avLst/>
              <a:gdLst/>
              <a:ahLst/>
              <a:cxnLst/>
              <a:rect r="r" b="b" t="t" l="l"/>
              <a:pathLst>
                <a:path h="1905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CCCC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9501188" y="3529012"/>
            <a:ext cx="200025" cy="200025"/>
            <a:chOff x="0" y="0"/>
            <a:chExt cx="266700" cy="2667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501188" y="5857875"/>
            <a:ext cx="7929562" cy="14288"/>
            <a:chOff x="0" y="0"/>
            <a:chExt cx="10572750" cy="190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572750" cy="19050"/>
            </a:xfrm>
            <a:custGeom>
              <a:avLst/>
              <a:gdLst/>
              <a:ahLst/>
              <a:cxnLst/>
              <a:rect r="r" b="b" t="t" l="l"/>
              <a:pathLst>
                <a:path h="1905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CCCC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857250" y="461962"/>
            <a:ext cx="17402175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1B4332"/>
                </a:solidFill>
                <a:latin typeface="Poppins Bold"/>
                <a:ea typeface="Poppins Bold"/>
                <a:cs typeface="Poppins Bold"/>
                <a:sym typeface="Poppins Bold"/>
              </a:rPr>
              <a:t>Simpulan &amp; Daftar Pustaka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57250" y="1428750"/>
            <a:ext cx="16573500" cy="42862"/>
            <a:chOff x="0" y="0"/>
            <a:chExt cx="22098000" cy="571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098000" cy="57150"/>
            </a:xfrm>
            <a:custGeom>
              <a:avLst/>
              <a:gdLst/>
              <a:ahLst/>
              <a:cxnLst/>
              <a:rect r="r" b="b" t="t" l="l"/>
              <a:pathLst>
                <a:path h="571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D4A373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DAG6OMRXNg8</dc:identifier>
  <dcterms:modified xsi:type="dcterms:W3CDTF">2011-08-01T06:04:30Z</dcterms:modified>
  <cp:revision>1</cp:revision>
  <dc:title>DOC-20251126-WA0006.</dc:title>
</cp:coreProperties>
</file>